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10"/>
  </p:notesMasterIdLst>
  <p:handoutMasterIdLst>
    <p:handoutMasterId r:id="rId11"/>
  </p:handoutMasterIdLst>
  <p:sldIdLst>
    <p:sldId id="398" r:id="rId3"/>
    <p:sldId id="409" r:id="rId4"/>
    <p:sldId id="403" r:id="rId5"/>
    <p:sldId id="404" r:id="rId6"/>
    <p:sldId id="412" r:id="rId7"/>
    <p:sldId id="413" r:id="rId8"/>
    <p:sldId id="406" r:id="rId9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F9F9"/>
    <a:srgbClr val="FFD393"/>
    <a:srgbClr val="FF8C2F"/>
    <a:srgbClr val="F47710"/>
    <a:srgbClr val="FFF2E9"/>
    <a:srgbClr val="0078D7"/>
    <a:srgbClr val="F2F2F2"/>
    <a:srgbClr val="FFFFE1"/>
    <a:srgbClr val="FFFF93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>
        <p:scale>
          <a:sx n="150" d="100"/>
          <a:sy n="150" d="100"/>
        </p:scale>
        <p:origin x="918" y="-180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 CREENCOMPUTER Co.,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2018 FREEMOA Co.,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9673233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도서검색서비스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황영일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9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7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2242545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황영일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778380"/>
              </p:ext>
            </p:extLst>
          </p:nvPr>
        </p:nvGraphicFramePr>
        <p:xfrm>
          <a:off x="275731" y="675489"/>
          <a:ext cx="8592538" cy="361840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황영일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 웹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182040"/>
              </p:ext>
            </p:extLst>
          </p:nvPr>
        </p:nvGraphicFramePr>
        <p:xfrm>
          <a:off x="107504" y="673970"/>
          <a:ext cx="8592538" cy="453892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/>
                        <a:t>교육 출판 및 도서 정보 제공 플랫폼 </a:t>
                      </a:r>
                      <a:r>
                        <a:rPr lang="en-US" altLang="ko-KR" sz="800" b="1" dirty="0"/>
                        <a:t>'</a:t>
                      </a:r>
                      <a:r>
                        <a:rPr lang="ko-KR" altLang="en-US" sz="800" b="1" dirty="0" err="1"/>
                        <a:t>그린스터디북스</a:t>
                      </a:r>
                      <a:r>
                        <a:rPr lang="en-US" altLang="ko-KR" sz="800" b="1" dirty="0"/>
                        <a:t>'</a:t>
                      </a:r>
                      <a:r>
                        <a:rPr lang="ko-KR" altLang="en-US" sz="800" dirty="0"/>
                        <a:t> 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고등 교육 과정 및 단행본을 아우르는 자사 출판 도서의 효과적인 홍보와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학생 및 교사들의 학습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1. </a:t>
                      </a:r>
                      <a:r>
                        <a:rPr lang="ko-KR" altLang="en-US" sz="800" dirty="0" err="1"/>
                        <a:t>대상별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초등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중등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고등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단행본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직관적인 도서 탐색 환경 제공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en-US" altLang="ko-KR" sz="800" dirty="0"/>
                        <a:t>2. </a:t>
                      </a:r>
                      <a:r>
                        <a:rPr lang="ko-KR" altLang="en-US" sz="800" dirty="0"/>
                        <a:t>학습자 및 교수자를 위한 필수 부가 자료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해설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듣기자료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교사용 이북 등</a:t>
                      </a:r>
                      <a:r>
                        <a:rPr lang="en-US" altLang="ko-KR" sz="800" dirty="0"/>
                        <a:t>)</a:t>
                      </a:r>
                      <a:r>
                        <a:rPr lang="ko-KR" altLang="en-US" sz="800" dirty="0"/>
                        <a:t>의 원활한 제공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en-US" altLang="ko-KR" sz="800" dirty="0"/>
                        <a:t>3. </a:t>
                      </a:r>
                      <a:r>
                        <a:rPr lang="ko-KR" altLang="en-US" sz="800" dirty="0"/>
                        <a:t>맞춤 큐레이션 및 커뮤니티 연동을 통한 고객 소통 강화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고객 편의성 증대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검색 및 카테고리화를 통해 원하는 교재와 부가 자료를 빠르게 획득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브랜드 인지도 상승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그린 </a:t>
                      </a:r>
                      <a:r>
                        <a:rPr lang="en-US" altLang="ko-KR" sz="800" dirty="0"/>
                        <a:t>PICK', </a:t>
                      </a:r>
                      <a:r>
                        <a:rPr lang="ko-KR" altLang="en-US" sz="800" dirty="0"/>
                        <a:t>베스트셀러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유튜브 콘텐츠 연동을 통한 체류 시간 증대 및 브랜드 친밀도 향상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교사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ko-KR" altLang="en-US" sz="800" b="1" dirty="0"/>
                        <a:t>학원 고객 확보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전용 자료 제공 및 채택 이벤트를 통한 </a:t>
                      </a:r>
                      <a:r>
                        <a:rPr lang="en-US" altLang="ko-KR" sz="800" dirty="0"/>
                        <a:t>B2B </a:t>
                      </a:r>
                      <a:r>
                        <a:rPr lang="ko-KR" altLang="en-US" sz="800" dirty="0"/>
                        <a:t>충성 고객 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내비게이션 및 검색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초등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중등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고등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단행본 카테고리 탭 및 통합 검색 기능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 err="1"/>
                        <a:t>퀵</a:t>
                      </a:r>
                      <a:r>
                        <a:rPr lang="ko-KR" altLang="en-US" sz="800" b="1" dirty="0"/>
                        <a:t> 메뉴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/>
                        <a:t>자료실</a:t>
                      </a:r>
                      <a:r>
                        <a:rPr lang="en-US" altLang="ko-KR" sz="800" b="1" dirty="0"/>
                        <a:t>):</a:t>
                      </a:r>
                      <a:r>
                        <a:rPr lang="ko-KR" altLang="en-US" sz="800" dirty="0"/>
                        <a:t> 정답 및 해설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정오표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듣기자료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교사용 자료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교사용 이북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총판 안내</a:t>
                      </a:r>
                      <a:r>
                        <a:rPr lang="en-US" altLang="ko-KR" sz="800" dirty="0"/>
                        <a:t>, FAQ</a:t>
                      </a:r>
                    </a:p>
                    <a:p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* </a:t>
                      </a:r>
                      <a:r>
                        <a:rPr lang="ko-KR" altLang="en-US" sz="800" b="1" dirty="0"/>
                        <a:t>도서 큐레이션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해시태그 기반 맞춤 추천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그린 </a:t>
                      </a:r>
                      <a:r>
                        <a:rPr lang="en-US" altLang="ko-KR" sz="800" dirty="0"/>
                        <a:t>PICK', </a:t>
                      </a:r>
                      <a:r>
                        <a:rPr lang="ko-KR" altLang="en-US" sz="800" dirty="0" err="1"/>
                        <a:t>타겟별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베스트 셀러</a:t>
                      </a:r>
                      <a:r>
                        <a:rPr lang="en-US" altLang="ko-KR" sz="800" dirty="0"/>
                        <a:t>' </a:t>
                      </a:r>
                      <a:r>
                        <a:rPr lang="ko-KR" altLang="en-US" sz="800" dirty="0"/>
                        <a:t>랭킹 제공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미디어 </a:t>
                      </a:r>
                      <a:r>
                        <a:rPr lang="en-US" altLang="ko-KR" sz="800" b="1" dirty="0"/>
                        <a:t>&amp; </a:t>
                      </a:r>
                      <a:r>
                        <a:rPr lang="ko-KR" altLang="en-US" sz="800" b="1" dirty="0"/>
                        <a:t>커뮤니티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유튜브 영상 갤러리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한능검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집밥</a:t>
                      </a:r>
                      <a:r>
                        <a:rPr lang="ko-KR" altLang="en-US" sz="800" dirty="0"/>
                        <a:t> 백과 등</a:t>
                      </a:r>
                      <a:r>
                        <a:rPr lang="en-US" altLang="ko-KR" sz="800" dirty="0"/>
                        <a:t>), </a:t>
                      </a:r>
                      <a:r>
                        <a:rPr lang="ko-KR" altLang="en-US" sz="800" dirty="0"/>
                        <a:t>진행 중인 이벤트 목록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공식 </a:t>
                      </a:r>
                      <a:r>
                        <a:rPr lang="en-US" altLang="ko-KR" sz="800" dirty="0"/>
                        <a:t>SNS(</a:t>
                      </a:r>
                      <a:r>
                        <a:rPr lang="ko-KR" altLang="en-US" sz="800" dirty="0"/>
                        <a:t>인스타그램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유튜브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블로그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카페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링크 연동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고등학생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학부모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학교 및 학원 교사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일반 독자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단행본 구독자</a:t>
                      </a:r>
                      <a:r>
                        <a:rPr lang="en-US" altLang="ko-KR" sz="800" dirty="0"/>
                        <a:t>)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반응형 웹사이트 </a:t>
                      </a:r>
                      <a:r>
                        <a:rPr lang="en-US" altLang="ko-KR" sz="800" dirty="0"/>
                        <a:t>(PC, </a:t>
                      </a:r>
                      <a:r>
                        <a:rPr lang="ko-KR" altLang="en-US" sz="800" dirty="0"/>
                        <a:t>태블릿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모바일</a:t>
                      </a:r>
                      <a:r>
                        <a:rPr lang="en-US" altLang="ko-KR" sz="800" dirty="0"/>
                        <a:t>)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dirty="0"/>
                        <a:t>특이사항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KICK', '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ko-KR" altLang="en-US" sz="800" dirty="0"/>
                        <a:t> 과학 용어</a:t>
                      </a:r>
                      <a:r>
                        <a:rPr lang="en-US" altLang="ko-KR" sz="800" dirty="0"/>
                        <a:t>' </a:t>
                      </a:r>
                      <a:r>
                        <a:rPr lang="ko-KR" altLang="en-US" sz="800" dirty="0"/>
                        <a:t>등 핵심 도서 시리즈 중심의 마케팅 전개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E058C9CE-AAAC-4953-B0FC-38ECCF00F223}"/>
              </a:ext>
            </a:extLst>
          </p:cNvPr>
          <p:cNvCxnSpPr>
            <a:cxnSpLocks/>
          </p:cNvCxnSpPr>
          <p:nvPr/>
        </p:nvCxnSpPr>
        <p:spPr>
          <a:xfrm rot="10800000">
            <a:off x="2799220" y="2060367"/>
            <a:ext cx="1341725" cy="63840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평행 사변형 55">
            <a:extLst>
              <a:ext uri="{FF2B5EF4-FFF2-40B4-BE49-F238E27FC236}">
                <a16:creationId xmlns:a16="http://schemas.microsoft.com/office/drawing/2014/main" id="{C0245C10-3468-47CC-8C09-D3624B80E46C}"/>
              </a:ext>
            </a:extLst>
          </p:cNvPr>
          <p:cNvSpPr/>
          <p:nvPr/>
        </p:nvSpPr>
        <p:spPr>
          <a:xfrm>
            <a:off x="5104088" y="3201418"/>
            <a:ext cx="1325434" cy="343130"/>
          </a:xfrm>
          <a:prstGeom prst="parallelogram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 입력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1775635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1784197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1696534" y="2539285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2203023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2794958" y="2713484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3130731" y="2575565"/>
            <a:ext cx="1153237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highlight>
                  <a:srgbClr val="F9F9F9"/>
                </a:highlight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없음 </a:t>
            </a:r>
            <a:r>
              <a:rPr lang="ko-KR" altLang="en-US" sz="750" dirty="0" err="1">
                <a:solidFill>
                  <a:srgbClr val="000000"/>
                </a:solidFill>
                <a:highlight>
                  <a:srgbClr val="F9F9F9"/>
                </a:highlight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highlight>
                <a:srgbClr val="F9F9F9"/>
              </a:highlight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2254821" y="2867025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2210075" y="2881523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1791249" y="3106177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2210075" y="349028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1250511" y="3736786"/>
            <a:ext cx="1910732" cy="99729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노출</a:t>
            </a: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1784197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2196994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338182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19805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프리모아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 웹사이트접속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259082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76557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35045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D1FA220-2AC7-488E-92FD-AAB727F9E0F0}"/>
              </a:ext>
            </a:extLst>
          </p:cNvPr>
          <p:cNvSpPr/>
          <p:nvPr/>
        </p:nvSpPr>
        <p:spPr>
          <a:xfrm>
            <a:off x="6686227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838321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593225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31444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81031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76557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346744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283D2AEF-3863-4DF2-B232-0C9F93DCFD37}"/>
              </a:ext>
            </a:extLst>
          </p:cNvPr>
          <p:cNvCxnSpPr>
            <a:cxnSpLocks/>
          </p:cNvCxnSpPr>
          <p:nvPr/>
        </p:nvCxnSpPr>
        <p:spPr>
          <a:xfrm>
            <a:off x="8342707" y="2550844"/>
            <a:ext cx="0" cy="160371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839466" y="439456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>
            <a:off x="6335935" y="4573821"/>
            <a:ext cx="1325569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765570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D3453D9A-E108-45ED-9350-8142703E610A}"/>
              </a:ext>
            </a:extLst>
          </p:cNvPr>
          <p:cNvCxnSpPr>
            <a:cxnSpLocks/>
          </p:cNvCxnSpPr>
          <p:nvPr/>
        </p:nvCxnSpPr>
        <p:spPr>
          <a:xfrm>
            <a:off x="5765570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5027397" y="3789674"/>
            <a:ext cx="147920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346744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마이페이지 노출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346744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759541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3290B2E1-F73B-4375-940C-E7DDB2F06D8F}"/>
              </a:ext>
            </a:extLst>
          </p:cNvPr>
          <p:cNvCxnSpPr>
            <a:cxnSpLocks/>
          </p:cNvCxnSpPr>
          <p:nvPr/>
        </p:nvCxnSpPr>
        <p:spPr>
          <a:xfrm rot="10800000">
            <a:off x="6493897" y="2763669"/>
            <a:ext cx="12700" cy="1217083"/>
          </a:xfrm>
          <a:prstGeom prst="bentConnector3">
            <a:avLst>
              <a:gd name="adj1" fmla="val -5629024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7937069A-B501-4877-AEAF-AA0C6C565FEF}"/>
              </a:ext>
            </a:extLst>
          </p:cNvPr>
          <p:cNvSpPr txBox="1"/>
          <p:nvPr/>
        </p:nvSpPr>
        <p:spPr>
          <a:xfrm>
            <a:off x="6705707" y="3773058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810316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765570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A813FC0-47D4-4F8D-A11C-E349DECF8FA2}"/>
              </a:ext>
            </a:extLst>
          </p:cNvPr>
          <p:cNvSpPr/>
          <p:nvPr/>
        </p:nvSpPr>
        <p:spPr>
          <a:xfrm>
            <a:off x="6681920" y="3181972"/>
            <a:ext cx="1098099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2203023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74969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93F3C58-8001-408C-AC06-DBCAA001A696}"/>
              </a:ext>
            </a:extLst>
          </p:cNvPr>
          <p:cNvSpPr/>
          <p:nvPr/>
        </p:nvSpPr>
        <p:spPr>
          <a:xfrm>
            <a:off x="1627831" y="1942382"/>
            <a:ext cx="1153237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목록 노출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8D4146B0-36E7-4B7A-8831-D1B418EB2CB4}"/>
              </a:ext>
            </a:extLst>
          </p:cNvPr>
          <p:cNvCxnSpPr>
            <a:cxnSpLocks/>
          </p:cNvCxnSpPr>
          <p:nvPr/>
        </p:nvCxnSpPr>
        <p:spPr>
          <a:xfrm>
            <a:off x="2204449" y="2304169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53710725-5F51-4DE8-B4B8-15D2F9DE7525}"/>
              </a:ext>
            </a:extLst>
          </p:cNvPr>
          <p:cNvSpPr txBox="1"/>
          <p:nvPr/>
        </p:nvSpPr>
        <p:spPr>
          <a:xfrm>
            <a:off x="2753072" y="2528818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90665"/>
              </p:ext>
            </p:extLst>
          </p:nvPr>
        </p:nvGraphicFramePr>
        <p:xfrm>
          <a:off x="6979021" y="0"/>
          <a:ext cx="2164979" cy="25470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토글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메뉴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슬라이드 로딩으로</a:t>
                      </a:r>
                      <a:b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</a:b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서븐메뉴가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나온다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캐러셀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이미지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몇모마다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한번씩 돌아간다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451987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햄버거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베뉴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일반적인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토글메뉴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맥그라은드는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흰색 테두리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0820127-FA31-439A-ACE2-10DB41FCA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332581"/>
            <a:ext cx="2319237" cy="5049838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6E6E174-0443-4D6E-942B-3CB8B39086F0}"/>
              </a:ext>
            </a:extLst>
          </p:cNvPr>
          <p:cNvSpPr/>
          <p:nvPr/>
        </p:nvSpPr>
        <p:spPr>
          <a:xfrm>
            <a:off x="3131840" y="337220"/>
            <a:ext cx="2448272" cy="4968552"/>
          </a:xfrm>
          <a:prstGeom prst="rect">
            <a:avLst/>
          </a:prstGeom>
          <a:noFill/>
          <a:ln w="127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52FF2C1-B405-402D-9253-D965D9748BF1}"/>
              </a:ext>
            </a:extLst>
          </p:cNvPr>
          <p:cNvSpPr/>
          <p:nvPr/>
        </p:nvSpPr>
        <p:spPr>
          <a:xfrm>
            <a:off x="3131840" y="1129308"/>
            <a:ext cx="2448272" cy="1577734"/>
          </a:xfrm>
          <a:prstGeom prst="rect">
            <a:avLst/>
          </a:prstGeom>
          <a:solidFill>
            <a:schemeClr val="tx1"/>
          </a:solidFill>
          <a:ln w="127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0EB563F-B80C-4B81-A63F-E22AAC5937AC}"/>
              </a:ext>
            </a:extLst>
          </p:cNvPr>
          <p:cNvSpPr/>
          <p:nvPr/>
        </p:nvSpPr>
        <p:spPr>
          <a:xfrm>
            <a:off x="3203848" y="481236"/>
            <a:ext cx="1080120" cy="2160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r>
              <a:rPr lang="ko-KR" altLang="en-US" sz="850" dirty="0" err="1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그린스터디북스</a:t>
            </a:r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85188AD-B54C-40C5-9EAA-59A3666756DC}"/>
              </a:ext>
            </a:extLst>
          </p:cNvPr>
          <p:cNvSpPr/>
          <p:nvPr/>
        </p:nvSpPr>
        <p:spPr>
          <a:xfrm>
            <a:off x="4211960" y="481236"/>
            <a:ext cx="288032" cy="216024"/>
          </a:xfrm>
          <a:prstGeom prst="roundRect">
            <a:avLst/>
          </a:prstGeom>
          <a:noFill/>
          <a:ln w="127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6AB7E2A-9DE4-4CB0-AB94-32F43CFD9714}"/>
              </a:ext>
            </a:extLst>
          </p:cNvPr>
          <p:cNvGrpSpPr/>
          <p:nvPr/>
        </p:nvGrpSpPr>
        <p:grpSpPr>
          <a:xfrm>
            <a:off x="4355976" y="409228"/>
            <a:ext cx="388720" cy="200055"/>
            <a:chOff x="4727047" y="5307508"/>
            <a:chExt cx="388720" cy="200055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752C304-DD90-49BA-93A1-186E6E05046B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53" name="TextBox 27">
              <a:extLst>
                <a:ext uri="{FF2B5EF4-FFF2-40B4-BE49-F238E27FC236}">
                  <a16:creationId xmlns:a16="http://schemas.microsoft.com/office/drawing/2014/main" id="{884D796F-A3E9-4C78-9423-E194A4646E83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5BCBEBE2-6F8D-4DE9-AAEA-162AFEF86819}"/>
              </a:ext>
            </a:extLst>
          </p:cNvPr>
          <p:cNvGrpSpPr/>
          <p:nvPr/>
        </p:nvGrpSpPr>
        <p:grpSpPr>
          <a:xfrm>
            <a:off x="3219867" y="1289293"/>
            <a:ext cx="388720" cy="200055"/>
            <a:chOff x="4727047" y="5307508"/>
            <a:chExt cx="388720" cy="200055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D583FCD1-7B98-4FE1-9551-3FA8B22001AC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56" name="TextBox 27">
              <a:extLst>
                <a:ext uri="{FF2B5EF4-FFF2-40B4-BE49-F238E27FC236}">
                  <a16:creationId xmlns:a16="http://schemas.microsoft.com/office/drawing/2014/main" id="{8F85C6AA-AAD3-4F1D-B830-97D56CDC5155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41588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83296" y="1376778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17154</TotalTime>
  <Words>999</Words>
  <Application>Microsoft Office PowerPoint</Application>
  <PresentationFormat>화면 슬라이드 쇼(16:10)</PresentationFormat>
  <Paragraphs>195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1399</cp:revision>
  <cp:lastPrinted>2020-01-08T09:16:57Z</cp:lastPrinted>
  <dcterms:created xsi:type="dcterms:W3CDTF">2018-01-08T06:52:41Z</dcterms:created>
  <dcterms:modified xsi:type="dcterms:W3CDTF">2026-08-10T08:24:43Z</dcterms:modified>
</cp:coreProperties>
</file>