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73" r:id="rId2"/>
  </p:sldMasterIdLst>
  <p:notesMasterIdLst>
    <p:notesMasterId r:id="rId9"/>
  </p:notesMasterIdLst>
  <p:handoutMasterIdLst>
    <p:handoutMasterId r:id="rId10"/>
  </p:handoutMasterIdLst>
  <p:sldIdLst>
    <p:sldId id="398" r:id="rId3"/>
    <p:sldId id="409" r:id="rId4"/>
    <p:sldId id="403" r:id="rId5"/>
    <p:sldId id="404" r:id="rId6"/>
    <p:sldId id="412" r:id="rId7"/>
    <p:sldId id="406" r:id="rId8"/>
  </p:sldIdLst>
  <p:sldSz cx="9144000" cy="5715000" type="screen16x10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7">
          <p15:clr>
            <a:srgbClr val="A4A3A4"/>
          </p15:clr>
        </p15:guide>
        <p15:guide id="2" pos="212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F9F9"/>
    <a:srgbClr val="FFD393"/>
    <a:srgbClr val="FF8C2F"/>
    <a:srgbClr val="F47710"/>
    <a:srgbClr val="FFF2E9"/>
    <a:srgbClr val="0078D7"/>
    <a:srgbClr val="F2F2F2"/>
    <a:srgbClr val="FFFFE1"/>
    <a:srgbClr val="FFFF93"/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보통 스타일 3 - 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930" autoAdjust="0"/>
    <p:restoredTop sz="94660"/>
  </p:normalViewPr>
  <p:slideViewPr>
    <p:cSldViewPr>
      <p:cViewPr varScale="1">
        <p:scale>
          <a:sx n="146" d="100"/>
          <a:sy n="146" d="100"/>
        </p:scale>
        <p:origin x="1038" y="108"/>
      </p:cViewPr>
      <p:guideLst>
        <p:guide orient="horz" pos="180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1" d="100"/>
          <a:sy n="81" d="100"/>
        </p:scale>
        <p:origin x="-3990" y="-90"/>
      </p:cViewPr>
      <p:guideLst>
        <p:guide orient="horz" pos="3107"/>
        <p:guide pos="212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9972AA-FE3A-41E8-94D7-0A348C1614D1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B63632-7804-4AD9-A8DE-B9F046569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68809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5E66B-2806-4CC0-B543-C1F698B8CB0C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739775"/>
            <a:ext cx="5919787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76DB6A-589F-43F9-84B6-ACD2F062FA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3548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6DB6A-589F-43F9-84B6-ACD2F062FAB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2200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6DB6A-589F-43F9-84B6-ACD2F062FAB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22003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6DB6A-589F-43F9-84B6-ACD2F062FAB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1846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 txBox="1">
            <a:spLocks/>
          </p:cNvSpPr>
          <p:nvPr userDrawn="1"/>
        </p:nvSpPr>
        <p:spPr>
          <a:xfrm>
            <a:off x="6400800" y="5505147"/>
            <a:ext cx="2743200" cy="2322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9C4B17B-A05E-4182-9286-FAF5968200C5}" type="slidenum">
              <a:rPr lang="ko-KR" altLang="en-US" sz="900" smtClean="0"/>
              <a:pPr/>
              <a:t>‹#›</a:t>
            </a:fld>
            <a:endParaRPr lang="ko-KR" altLang="en-US" sz="900" dirty="0"/>
          </a:p>
        </p:txBody>
      </p:sp>
      <p:sp>
        <p:nvSpPr>
          <p:cNvPr id="7" name="바닥글 개체 틀 4"/>
          <p:cNvSpPr txBox="1">
            <a:spLocks/>
          </p:cNvSpPr>
          <p:nvPr userDrawn="1"/>
        </p:nvSpPr>
        <p:spPr>
          <a:xfrm>
            <a:off x="1825918" y="5502743"/>
            <a:ext cx="5492164" cy="232279"/>
          </a:xfrm>
          <a:prstGeom prst="rect">
            <a:avLst/>
          </a:prstGeom>
        </p:spPr>
        <p:txBody>
          <a:bodyPr vert="horz" wrap="square" lIns="81037" tIns="40519" rIns="81037" bIns="40519" numCol="1" rtlCol="0" anchor="ctr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marL="0" algn="ctr" defTabSz="914400" rtl="0" eaLnBrk="1" latinLnBrk="1" hangingPunct="1">
              <a:defRPr sz="7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ko-KR" sz="600" dirty="0"/>
              <a:t>Copyright © 2026 CREENCOMPUTER Co., ltd.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225740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 txBox="1">
            <a:spLocks/>
          </p:cNvSpPr>
          <p:nvPr userDrawn="1"/>
        </p:nvSpPr>
        <p:spPr>
          <a:xfrm>
            <a:off x="6400800" y="5505147"/>
            <a:ext cx="2743200" cy="2322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9C4B17B-A05E-4182-9286-FAF5968200C5}" type="slidenum">
              <a:rPr lang="ko-KR" altLang="en-US" sz="900" smtClean="0"/>
              <a:pPr/>
              <a:t>‹#›</a:t>
            </a:fld>
            <a:endParaRPr lang="ko-KR" altLang="en-US" sz="900" dirty="0"/>
          </a:p>
        </p:txBody>
      </p:sp>
      <p:sp>
        <p:nvSpPr>
          <p:cNvPr id="7" name="바닥글 개체 틀 4"/>
          <p:cNvSpPr txBox="1">
            <a:spLocks/>
          </p:cNvSpPr>
          <p:nvPr userDrawn="1"/>
        </p:nvSpPr>
        <p:spPr>
          <a:xfrm>
            <a:off x="1825918" y="5502743"/>
            <a:ext cx="5492164" cy="232279"/>
          </a:xfrm>
          <a:prstGeom prst="rect">
            <a:avLst/>
          </a:prstGeom>
        </p:spPr>
        <p:txBody>
          <a:bodyPr vert="horz" wrap="square" lIns="81037" tIns="40519" rIns="81037" bIns="40519" numCol="1" rtlCol="0" anchor="ctr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marL="0" algn="ctr" defTabSz="914400" rtl="0" eaLnBrk="1" latinLnBrk="1" hangingPunct="1">
              <a:defRPr sz="7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ko-KR" sz="600" dirty="0"/>
              <a:t>Copyright © 2018 FREEMOA Co., ltd. All rights reserved.</a:t>
            </a:r>
          </a:p>
        </p:txBody>
      </p:sp>
      <p:cxnSp>
        <p:nvCxnSpPr>
          <p:cNvPr id="24" name="직선 연결선 23"/>
          <p:cNvCxnSpPr/>
          <p:nvPr userDrawn="1"/>
        </p:nvCxnSpPr>
        <p:spPr>
          <a:xfrm>
            <a:off x="6968736" y="193204"/>
            <a:ext cx="0" cy="511256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3419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774825"/>
            <a:ext cx="7772400" cy="122555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510148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774825"/>
            <a:ext cx="7772400" cy="122555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73EF2-4B26-4644-88A6-85759682C0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4077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73EF2-4B26-4644-88A6-85759682C0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5625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671888"/>
            <a:ext cx="7772400" cy="113506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422525"/>
            <a:ext cx="7772400" cy="1249363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73EF2-4B26-4644-88A6-85759682C0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9904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333500"/>
            <a:ext cx="4038600" cy="37719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333500"/>
            <a:ext cx="4038600" cy="37719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73EF2-4B26-4644-88A6-85759682C0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1749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79525"/>
            <a:ext cx="4040188" cy="5334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1812925"/>
            <a:ext cx="4040188" cy="32924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279525"/>
            <a:ext cx="4041775" cy="5334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1812925"/>
            <a:ext cx="4041775" cy="32924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73EF2-4B26-4644-88A6-85759682C0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8351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73EF2-4B26-4644-88A6-85759682C0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9663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73EF2-4B26-4644-88A6-85759682C0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5801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27013"/>
            <a:ext cx="3008313" cy="9683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27013"/>
            <a:ext cx="5111750" cy="48783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195388"/>
            <a:ext cx="3008313" cy="39100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73EF2-4B26-4644-88A6-85759682C0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89932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30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511175"/>
            <a:ext cx="5486400" cy="3429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4473575"/>
            <a:ext cx="5486400" cy="6699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73EF2-4B26-4644-88A6-85759682C0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61623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73EF2-4B26-4644-88A6-85759682C0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69603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28600"/>
            <a:ext cx="2057400" cy="48768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28600"/>
            <a:ext cx="6019800" cy="48768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73EF2-4B26-4644-88A6-85759682C0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1776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333500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graphicFrame>
        <p:nvGraphicFramePr>
          <p:cNvPr id="7" name="표 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29673233"/>
              </p:ext>
            </p:extLst>
          </p:nvPr>
        </p:nvGraphicFramePr>
        <p:xfrm>
          <a:off x="0" y="1"/>
          <a:ext cx="9143999" cy="53713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1805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814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93203">
                <a:tc>
                  <a:txBody>
                    <a:bodyPr/>
                    <a:lstStyle/>
                    <a:p>
                      <a:pPr latinLnBrk="1"/>
                      <a:endParaRPr lang="ko-KR" altLang="en-US" sz="600" b="1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39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Title</a:t>
                      </a:r>
                      <a:endParaRPr lang="ko-KR" altLang="en-US" sz="6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39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도서검색서비스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39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Made</a:t>
                      </a:r>
                      <a:r>
                        <a:rPr lang="en-US" altLang="ko-KR" sz="600" b="1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by</a:t>
                      </a:r>
                      <a:endParaRPr lang="ko-KR" altLang="en-US" sz="6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393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6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황영일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39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Ver</a:t>
                      </a:r>
                      <a:r>
                        <a:rPr lang="en-US" altLang="ko-KR" sz="6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6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39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1.0</a:t>
                      </a:r>
                      <a:endParaRPr lang="ko-KR" altLang="en-US" sz="6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39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Last updated</a:t>
                      </a:r>
                      <a:endParaRPr lang="ko-KR" altLang="en-US" sz="6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39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2026-08-18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3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00" b="1" u="none" spc="7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3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8183">
                <a:tc gridSpan="10">
                  <a:txBody>
                    <a:bodyPr/>
                    <a:lstStyle/>
                    <a:p>
                      <a:pPr latinLnBrk="1"/>
                      <a:endParaRPr lang="ko-KR" altLang="en-US" sz="700" b="1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T="45703" marB="4570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b="1" dirty="0">
                        <a:solidFill>
                          <a:srgbClr val="FFFF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T="45703" marB="457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b="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T="45703" marB="457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b="1" dirty="0">
                        <a:solidFill>
                          <a:srgbClr val="FFFF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T="45703" marB="457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T="45703" marB="457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b="1" dirty="0">
                        <a:solidFill>
                          <a:srgbClr val="FFFF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T="45703" marB="457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T="45703" marB="457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b="1" dirty="0">
                        <a:solidFill>
                          <a:srgbClr val="FFFF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T="45703" marB="457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b="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T="45703" marB="457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u="none" spc="7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T="45703" marB="45703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3364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72" r:id="rId3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333500"/>
            <a:ext cx="8229600" cy="3771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5297488"/>
            <a:ext cx="2133600" cy="3032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5297488"/>
            <a:ext cx="2895600" cy="3032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E73EF2-4B26-4644-88A6-85759682C0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8267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6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image" Target="../media/image8.jpg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notesSlide" Target="../notesSlides/notesSlide3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7.xml"/><Relationship Id="rId15" Type="http://schemas.openxmlformats.org/officeDocument/2006/relationships/image" Target="../media/image7.svg"/><Relationship Id="rId10" Type="http://schemas.openxmlformats.org/officeDocument/2006/relationships/tags" Target="../tags/tag12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77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4346153"/>
              </p:ext>
            </p:extLst>
          </p:nvPr>
        </p:nvGraphicFramePr>
        <p:xfrm>
          <a:off x="683569" y="985292"/>
          <a:ext cx="7776864" cy="1674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68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74776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Group 1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2242545"/>
              </p:ext>
            </p:extLst>
          </p:nvPr>
        </p:nvGraphicFramePr>
        <p:xfrm>
          <a:off x="3185639" y="3433564"/>
          <a:ext cx="2819849" cy="1196975"/>
        </p:xfrm>
        <a:graphic>
          <a:graphicData uri="http://schemas.openxmlformats.org/drawingml/2006/table">
            <a:tbl>
              <a:tblPr/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5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5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5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100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Times New Roman" pitchFamily="18" charset="0"/>
                        </a:rPr>
                        <a:t>그린컴퓨터 </a:t>
                      </a:r>
                      <a:r>
                        <a:rPr kumimoji="1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Times New Roman" pitchFamily="18" charset="0"/>
                        </a:rPr>
                        <a:t>노원점</a:t>
                      </a: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Times New Roman" pitchFamily="18" charset="0"/>
                        </a:rPr>
                        <a:t>확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Times New Roman" pitchFamily="18" charset="0"/>
                        </a:rPr>
                        <a:t>인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Times New Roman" pitchFamily="18" charset="0"/>
                        </a:rPr>
                        <a:t>작성자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Times New Roman" pitchFamily="18" charset="0"/>
                        </a:rPr>
                        <a:t>검수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Times New Roman" pitchFamily="18" charset="0"/>
                        </a:rPr>
                        <a:t>최종 승인 자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황영일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유승준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홍희경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제목 3"/>
          <p:cNvSpPr txBox="1">
            <a:spLocks/>
          </p:cNvSpPr>
          <p:nvPr/>
        </p:nvSpPr>
        <p:spPr>
          <a:xfrm>
            <a:off x="179513" y="1294731"/>
            <a:ext cx="8784975" cy="4874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b="1" dirty="0" err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도서검색웹</a:t>
            </a:r>
            <a:r>
              <a:rPr lang="ko-KR" altLang="en-US" sz="1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SB</a:t>
            </a:r>
            <a:endParaRPr lang="ko-KR" altLang="en-US" sz="1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제목 3"/>
          <p:cNvSpPr txBox="1">
            <a:spLocks/>
          </p:cNvSpPr>
          <p:nvPr/>
        </p:nvSpPr>
        <p:spPr>
          <a:xfrm>
            <a:off x="179512" y="1977399"/>
            <a:ext cx="8784975" cy="4874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1050" dirty="0">
                <a:solidFill>
                  <a:schemeClr val="bg1"/>
                </a:solidFill>
                <a:latin typeface="+mn-ea"/>
                <a:ea typeface="+mn-ea"/>
              </a:rPr>
              <a:t>2026-08-05</a:t>
            </a:r>
            <a:endParaRPr lang="ko-KR" altLang="en-US" sz="105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제목 3"/>
          <p:cNvSpPr txBox="1">
            <a:spLocks/>
          </p:cNvSpPr>
          <p:nvPr/>
        </p:nvSpPr>
        <p:spPr>
          <a:xfrm>
            <a:off x="611559" y="2641476"/>
            <a:ext cx="7920881" cy="3600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ko-KR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Ver. 1.0</a:t>
            </a:r>
            <a:endParaRPr lang="ko-KR" altLang="en-US" sz="9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2746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9778380"/>
              </p:ext>
            </p:extLst>
          </p:nvPr>
        </p:nvGraphicFramePr>
        <p:xfrm>
          <a:off x="275731" y="675489"/>
          <a:ext cx="8592538" cy="361840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58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523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05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12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L="68352" marR="68352" marT="34176" marB="3417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변경일자</a:t>
                      </a:r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page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내                            용</a:t>
                      </a:r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v.0.1</a:t>
                      </a:r>
                      <a:endParaRPr lang="ko-KR" altLang="en-US" sz="700" dirty="0"/>
                    </a:p>
                  </a:txBody>
                  <a:tcPr marL="68352" marR="68352" marT="34176" marB="3417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2026-08-05</a:t>
                      </a:r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-</a:t>
                      </a:r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/>
                        <a:t>최초작성</a:t>
                      </a:r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/>
                        <a:t>황영일</a:t>
                      </a:r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/>
                    </a:p>
                  </a:txBody>
                  <a:tcPr marL="68352" marR="68352" marT="34176" marB="3417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20677" y="265212"/>
            <a:ext cx="11037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문서이력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A7811D-B585-4DB2-A71F-7454EDE8B0F9}"/>
              </a:ext>
            </a:extLst>
          </p:cNvPr>
          <p:cNvSpPr txBox="1"/>
          <p:nvPr/>
        </p:nvSpPr>
        <p:spPr>
          <a:xfrm>
            <a:off x="264479" y="4548857"/>
            <a:ext cx="15265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문서이력</a:t>
            </a:r>
            <a:endParaRPr lang="en-US" altLang="ko-KR" sz="14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47E9790-026E-4A7B-8BC1-2BB7D23D91FC}"/>
              </a:ext>
            </a:extLst>
          </p:cNvPr>
          <p:cNvSpPr/>
          <p:nvPr/>
        </p:nvSpPr>
        <p:spPr>
          <a:xfrm>
            <a:off x="1403648" y="4563218"/>
            <a:ext cx="683447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   </a:t>
            </a:r>
            <a:r>
              <a:rPr lang="ko-KR" altLang="en-US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 문서의 버전정보를 확인할 수 있는 문서</a:t>
            </a:r>
            <a:endParaRPr lang="en-US" altLang="ko-KR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9B64829-8A32-44D6-84E4-74E6E4A40D9D}"/>
              </a:ext>
            </a:extLst>
          </p:cNvPr>
          <p:cNvSpPr/>
          <p:nvPr/>
        </p:nvSpPr>
        <p:spPr>
          <a:xfrm>
            <a:off x="257370" y="4867392"/>
            <a:ext cx="8563102" cy="5582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기획문서는 최초 작성 후 작성 시와 달라지는 여러 이해당사자의 필요나 개발 환경에 따라 </a:t>
            </a:r>
            <a:r>
              <a:rPr lang="ko-KR" altLang="en-US" sz="7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수정이 여러 </a:t>
            </a:r>
            <a:r>
              <a:rPr lang="ko-KR" altLang="en-US" sz="700" b="1" dirty="0" err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차레</a:t>
            </a:r>
            <a:r>
              <a:rPr lang="ko-KR" altLang="en-US" sz="7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발생</a:t>
            </a:r>
            <a:r>
              <a:rPr lang="ko-KR" altLang="en-US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할 수 있습니다</a:t>
            </a:r>
            <a:r>
              <a:rPr lang="en-US" altLang="ko-KR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기획 문서는 디자인</a:t>
            </a:r>
            <a:r>
              <a:rPr lang="en-US" altLang="ko-KR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개발 완료까지 작업을 진행하는 작업자와 관리자까지 최종 결과물에 대한 기초자료가 되기 때문에 수정된 정보 에 대한 관리가 되지 않으면 최종 결과물이 원하는 방향대로 나오지 않을 수 있습니다</a:t>
            </a:r>
            <a:r>
              <a:rPr lang="en-US" altLang="ko-KR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정해진 양식은 없지만 일반적으로 </a:t>
            </a:r>
            <a:r>
              <a:rPr lang="ko-KR" altLang="en-US" sz="7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버전 별 변경일자</a:t>
            </a:r>
            <a:r>
              <a:rPr lang="en-US" altLang="ko-KR" sz="7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7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수정된 페이지와 수정 내용을 작성하고 최종 버전을 공유합니다</a:t>
            </a:r>
            <a:r>
              <a:rPr lang="en-US" altLang="ko-KR" sz="7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7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pic>
        <p:nvPicPr>
          <p:cNvPr id="18" name="그래픽 17">
            <a:extLst>
              <a:ext uri="{FF2B5EF4-FFF2-40B4-BE49-F238E27FC236}">
                <a16:creationId xmlns:a16="http://schemas.microsoft.com/office/drawing/2014/main" id="{54FBBEFD-86F7-4840-8043-6464AE9DC1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4800" y="4624064"/>
            <a:ext cx="209583" cy="216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819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0D22AEF-7B1F-409B-B38B-19B7ED52011A}"/>
              </a:ext>
            </a:extLst>
          </p:cNvPr>
          <p:cNvSpPr txBox="1"/>
          <p:nvPr/>
        </p:nvSpPr>
        <p:spPr>
          <a:xfrm>
            <a:off x="220677" y="265212"/>
            <a:ext cx="2803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도서검색 웹 서비스 개요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B56E816E-84AA-4414-80AD-9092A30C84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4182040"/>
              </p:ext>
            </p:extLst>
          </p:nvPr>
        </p:nvGraphicFramePr>
        <p:xfrm>
          <a:off x="107504" y="673970"/>
          <a:ext cx="8592538" cy="453892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8397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52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54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marL="68352" marR="68352" marT="34176" marB="34176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내용</a:t>
                      </a:r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3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기획 서비스</a:t>
                      </a:r>
                      <a:endParaRPr lang="en-US" altLang="ko-KR" sz="800" b="1" dirty="0"/>
                    </a:p>
                  </a:txBody>
                  <a:tcPr marL="68352" marR="68352" marT="34176" marB="34176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just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교육 출판 및 도서 정보 제공 플랫폼 </a:t>
                      </a:r>
                      <a:r>
                        <a:rPr lang="en-US" altLang="ko-KR" sz="800" b="1" dirty="0"/>
                        <a:t>'</a:t>
                      </a:r>
                      <a:r>
                        <a:rPr lang="ko-KR" altLang="en-US" sz="800" b="1" dirty="0" err="1"/>
                        <a:t>그린스터디북스</a:t>
                      </a:r>
                      <a:r>
                        <a:rPr lang="en-US" altLang="ko-KR" sz="800" b="1" dirty="0"/>
                        <a:t>'</a:t>
                      </a:r>
                      <a:r>
                        <a:rPr lang="ko-KR" altLang="en-US" sz="800" dirty="0"/>
                        <a:t> 웹사이트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65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기획 배경</a:t>
                      </a:r>
                      <a:endParaRPr lang="en-US" altLang="ko-KR" sz="800" b="1" dirty="0"/>
                    </a:p>
                    <a:p>
                      <a:pPr algn="ctr" latinLnBrk="1"/>
                      <a:endParaRPr lang="en-US" altLang="ko-KR" sz="800" b="1" dirty="0">
                        <a:solidFill>
                          <a:srgbClr val="FF0000"/>
                        </a:solidFill>
                      </a:endParaRPr>
                    </a:p>
                  </a:txBody>
                  <a:tcPr marL="68352" marR="68352" marT="34176" marB="34176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just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초</a:t>
                      </a:r>
                      <a:r>
                        <a:rPr lang="en-US" altLang="ko-KR" sz="800" dirty="0"/>
                        <a:t>/</a:t>
                      </a:r>
                      <a:r>
                        <a:rPr lang="ko-KR" altLang="en-US" sz="800" dirty="0"/>
                        <a:t>중</a:t>
                      </a:r>
                      <a:r>
                        <a:rPr lang="en-US" altLang="ko-KR" sz="800" dirty="0"/>
                        <a:t>/</a:t>
                      </a:r>
                      <a:r>
                        <a:rPr lang="ko-KR" altLang="en-US" sz="800" dirty="0"/>
                        <a:t>고등 교육 과정 및 단행본을 아우르는 자사 출판 도서의 효과적인 홍보와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학생 및 교사들의 학습</a:t>
                      </a:r>
                      <a:r>
                        <a:rPr lang="en-US" altLang="ko-KR" sz="800" dirty="0"/>
                        <a:t>/</a:t>
                      </a:r>
                      <a:r>
                        <a:rPr lang="ko-KR" altLang="en-US" sz="800" dirty="0"/>
                        <a:t>교육 지원 자료에 대한 접근성을 높일 수 있는 통합 플랫폼 필요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7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기획 목적</a:t>
                      </a:r>
                      <a:endParaRPr lang="en-US" altLang="ko-KR" sz="800" b="1" dirty="0"/>
                    </a:p>
                  </a:txBody>
                  <a:tcPr marL="68352" marR="68352" marT="34176" marB="34176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/>
                        <a:t>1. </a:t>
                      </a:r>
                      <a:r>
                        <a:rPr lang="ko-KR" altLang="en-US" sz="800" dirty="0" err="1"/>
                        <a:t>대상별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초등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중등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고등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단행본</a:t>
                      </a:r>
                      <a:r>
                        <a:rPr lang="en-US" altLang="ko-KR" sz="800" dirty="0"/>
                        <a:t>) </a:t>
                      </a:r>
                      <a:r>
                        <a:rPr lang="ko-KR" altLang="en-US" sz="800" dirty="0"/>
                        <a:t>직관적인 도서 탐색 환경 제공</a:t>
                      </a:r>
                    </a:p>
                    <a:p>
                      <a:br>
                        <a:rPr lang="ko-KR" altLang="en-US" sz="800" dirty="0"/>
                      </a:br>
                      <a:r>
                        <a:rPr lang="en-US" altLang="ko-KR" sz="800" dirty="0"/>
                        <a:t>2. </a:t>
                      </a:r>
                      <a:r>
                        <a:rPr lang="ko-KR" altLang="en-US" sz="800" dirty="0"/>
                        <a:t>학습자 및 교수자를 위한 필수 부가 자료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해설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듣기자료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교사용 이북 등</a:t>
                      </a:r>
                      <a:r>
                        <a:rPr lang="en-US" altLang="ko-KR" sz="800" dirty="0"/>
                        <a:t>)</a:t>
                      </a:r>
                      <a:r>
                        <a:rPr lang="ko-KR" altLang="en-US" sz="800" dirty="0"/>
                        <a:t>의 원활한 제공</a:t>
                      </a:r>
                    </a:p>
                    <a:p>
                      <a:br>
                        <a:rPr lang="ko-KR" altLang="en-US" sz="800" dirty="0"/>
                      </a:br>
                      <a:r>
                        <a:rPr lang="en-US" altLang="ko-KR" sz="800" dirty="0"/>
                        <a:t>3. </a:t>
                      </a:r>
                      <a:r>
                        <a:rPr lang="ko-KR" altLang="en-US" sz="800" dirty="0"/>
                        <a:t>맞춤 큐레이션 및 커뮤니티 연동을 통한 고객 소통 강화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48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/>
                        <a:t>기대 효과</a:t>
                      </a:r>
                      <a:endParaRPr lang="en-US" altLang="ko-KR" sz="800" b="1" dirty="0"/>
                    </a:p>
                  </a:txBody>
                  <a:tcPr marL="68352" marR="68352" marT="34176" marB="34176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* </a:t>
                      </a:r>
                      <a:r>
                        <a:rPr lang="ko-KR" altLang="en-US" sz="800" b="1" dirty="0"/>
                        <a:t>고객 편의성 증대</a:t>
                      </a:r>
                      <a:r>
                        <a:rPr lang="en-US" altLang="ko-KR" sz="800" b="1" dirty="0"/>
                        <a:t>:</a:t>
                      </a:r>
                      <a:r>
                        <a:rPr lang="ko-KR" altLang="en-US" sz="800" dirty="0"/>
                        <a:t> 검색 및 카테고리화를 통해 원하는 교재와 부가 자료를 빠르게 획득</a:t>
                      </a:r>
                    </a:p>
                    <a:p>
                      <a:br>
                        <a:rPr lang="ko-KR" altLang="en-US" sz="800" dirty="0"/>
                      </a:br>
                      <a:r>
                        <a:rPr lang="ko-KR" altLang="en-US" sz="800" dirty="0"/>
                        <a:t>* </a:t>
                      </a:r>
                      <a:r>
                        <a:rPr lang="ko-KR" altLang="en-US" sz="800" b="1" dirty="0"/>
                        <a:t>브랜드 인지도 상승</a:t>
                      </a:r>
                      <a:r>
                        <a:rPr lang="en-US" altLang="ko-KR" sz="800" b="1" dirty="0"/>
                        <a:t>:</a:t>
                      </a:r>
                      <a:r>
                        <a:rPr lang="ko-KR" altLang="en-US" sz="800" dirty="0"/>
                        <a:t> </a:t>
                      </a:r>
                      <a:r>
                        <a:rPr lang="en-US" altLang="ko-KR" sz="800" dirty="0"/>
                        <a:t>'</a:t>
                      </a:r>
                      <a:r>
                        <a:rPr lang="ko-KR" altLang="en-US" sz="800" dirty="0"/>
                        <a:t>그린 </a:t>
                      </a:r>
                      <a:r>
                        <a:rPr lang="en-US" altLang="ko-KR" sz="800" dirty="0"/>
                        <a:t>PICK', </a:t>
                      </a:r>
                      <a:r>
                        <a:rPr lang="ko-KR" altLang="en-US" sz="800" dirty="0"/>
                        <a:t>베스트셀러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유튜브 콘텐츠 연동을 통한 체류 시간 증대 및 브랜드 친밀도 향상</a:t>
                      </a:r>
                    </a:p>
                    <a:p>
                      <a:br>
                        <a:rPr lang="ko-KR" altLang="en-US" sz="800" dirty="0"/>
                      </a:br>
                      <a:r>
                        <a:rPr lang="ko-KR" altLang="en-US" sz="800" dirty="0"/>
                        <a:t>* </a:t>
                      </a:r>
                      <a:r>
                        <a:rPr lang="ko-KR" altLang="en-US" sz="800" b="1" dirty="0"/>
                        <a:t>교사</a:t>
                      </a:r>
                      <a:r>
                        <a:rPr lang="en-US" altLang="ko-KR" sz="800" b="1" dirty="0"/>
                        <a:t>/</a:t>
                      </a:r>
                      <a:r>
                        <a:rPr lang="ko-KR" altLang="en-US" sz="800" b="1" dirty="0"/>
                        <a:t>학원 고객 확보</a:t>
                      </a:r>
                      <a:r>
                        <a:rPr lang="en-US" altLang="ko-KR" sz="800" b="1" dirty="0"/>
                        <a:t>:</a:t>
                      </a:r>
                      <a:r>
                        <a:rPr lang="ko-KR" altLang="en-US" sz="800" dirty="0"/>
                        <a:t> 전용 자료 제공 및 채택 이벤트를 통한 </a:t>
                      </a:r>
                      <a:r>
                        <a:rPr lang="en-US" altLang="ko-KR" sz="800" dirty="0"/>
                        <a:t>B2B </a:t>
                      </a:r>
                      <a:r>
                        <a:rPr lang="ko-KR" altLang="en-US" sz="800" dirty="0"/>
                        <a:t>충성 고객 확보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1158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주요 기능</a:t>
                      </a:r>
                    </a:p>
                  </a:txBody>
                  <a:tcPr marL="68352" marR="68352" marT="34176" marB="34176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* </a:t>
                      </a:r>
                      <a:r>
                        <a:rPr lang="ko-KR" altLang="en-US" sz="800" b="1" dirty="0"/>
                        <a:t>내비게이션 및 검색</a:t>
                      </a:r>
                      <a:r>
                        <a:rPr lang="en-US" altLang="ko-KR" sz="800" b="1" dirty="0"/>
                        <a:t>:</a:t>
                      </a:r>
                      <a:r>
                        <a:rPr lang="ko-KR" altLang="en-US" sz="800" dirty="0"/>
                        <a:t> 초등</a:t>
                      </a:r>
                      <a:r>
                        <a:rPr lang="en-US" altLang="ko-KR" sz="800" dirty="0"/>
                        <a:t>/</a:t>
                      </a:r>
                      <a:r>
                        <a:rPr lang="ko-KR" altLang="en-US" sz="800" dirty="0"/>
                        <a:t>중등</a:t>
                      </a:r>
                      <a:r>
                        <a:rPr lang="en-US" altLang="ko-KR" sz="800" dirty="0"/>
                        <a:t>/</a:t>
                      </a:r>
                      <a:r>
                        <a:rPr lang="ko-KR" altLang="en-US" sz="800" dirty="0"/>
                        <a:t>고등</a:t>
                      </a:r>
                      <a:r>
                        <a:rPr lang="en-US" altLang="ko-KR" sz="800" dirty="0"/>
                        <a:t>/</a:t>
                      </a:r>
                      <a:r>
                        <a:rPr lang="ko-KR" altLang="en-US" sz="800" dirty="0"/>
                        <a:t>단행본 카테고리 탭 및 통합 검색 기능</a:t>
                      </a:r>
                    </a:p>
                    <a:p>
                      <a:br>
                        <a:rPr lang="ko-KR" altLang="en-US" sz="800" dirty="0"/>
                      </a:br>
                      <a:r>
                        <a:rPr lang="ko-KR" altLang="en-US" sz="800" dirty="0"/>
                        <a:t>* </a:t>
                      </a:r>
                      <a:r>
                        <a:rPr lang="ko-KR" altLang="en-US" sz="800" b="1" dirty="0" err="1"/>
                        <a:t>퀵</a:t>
                      </a:r>
                      <a:r>
                        <a:rPr lang="ko-KR" altLang="en-US" sz="800" b="1" dirty="0"/>
                        <a:t> 메뉴</a:t>
                      </a:r>
                      <a:r>
                        <a:rPr lang="en-US" altLang="ko-KR" sz="800" b="1" dirty="0"/>
                        <a:t>(</a:t>
                      </a:r>
                      <a:r>
                        <a:rPr lang="ko-KR" altLang="en-US" sz="800" b="1" dirty="0"/>
                        <a:t>자료실</a:t>
                      </a:r>
                      <a:r>
                        <a:rPr lang="en-US" altLang="ko-KR" sz="800" b="1" dirty="0"/>
                        <a:t>):</a:t>
                      </a:r>
                      <a:r>
                        <a:rPr lang="ko-KR" altLang="en-US" sz="800" dirty="0"/>
                        <a:t> 정답 및 해설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정오표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듣기자료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교사용 자료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교사용 이북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총판 안내</a:t>
                      </a:r>
                      <a:r>
                        <a:rPr lang="en-US" altLang="ko-KR" sz="800" dirty="0"/>
                        <a:t>, FAQ</a:t>
                      </a:r>
                    </a:p>
                    <a:p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* </a:t>
                      </a:r>
                      <a:r>
                        <a:rPr lang="ko-KR" altLang="en-US" sz="800" b="1" dirty="0"/>
                        <a:t>도서 큐레이션</a:t>
                      </a:r>
                      <a:r>
                        <a:rPr lang="en-US" altLang="ko-KR" sz="800" b="1" dirty="0"/>
                        <a:t>:</a:t>
                      </a:r>
                      <a:r>
                        <a:rPr lang="ko-KR" altLang="en-US" sz="800" dirty="0"/>
                        <a:t> 해시태그 기반 맞춤 추천 </a:t>
                      </a:r>
                      <a:r>
                        <a:rPr lang="en-US" altLang="ko-KR" sz="800" dirty="0"/>
                        <a:t>'</a:t>
                      </a:r>
                      <a:r>
                        <a:rPr lang="ko-KR" altLang="en-US" sz="800" dirty="0"/>
                        <a:t>그린 </a:t>
                      </a:r>
                      <a:r>
                        <a:rPr lang="en-US" altLang="ko-KR" sz="800" dirty="0"/>
                        <a:t>PICK', </a:t>
                      </a:r>
                      <a:r>
                        <a:rPr lang="ko-KR" altLang="en-US" sz="800" dirty="0" err="1"/>
                        <a:t>타겟별</a:t>
                      </a:r>
                      <a:r>
                        <a:rPr lang="ko-KR" altLang="en-US" sz="800" dirty="0"/>
                        <a:t> </a:t>
                      </a:r>
                      <a:r>
                        <a:rPr lang="en-US" altLang="ko-KR" sz="800" dirty="0"/>
                        <a:t>'</a:t>
                      </a:r>
                      <a:r>
                        <a:rPr lang="ko-KR" altLang="en-US" sz="800" dirty="0"/>
                        <a:t>베스트 셀러</a:t>
                      </a:r>
                      <a:r>
                        <a:rPr lang="en-US" altLang="ko-KR" sz="800" dirty="0"/>
                        <a:t>' </a:t>
                      </a:r>
                      <a:r>
                        <a:rPr lang="ko-KR" altLang="en-US" sz="800" dirty="0"/>
                        <a:t>랭킹 제공</a:t>
                      </a:r>
                    </a:p>
                    <a:p>
                      <a:br>
                        <a:rPr lang="ko-KR" altLang="en-US" sz="800" dirty="0"/>
                      </a:br>
                      <a:r>
                        <a:rPr lang="ko-KR" altLang="en-US" sz="800" dirty="0"/>
                        <a:t>* </a:t>
                      </a:r>
                      <a:r>
                        <a:rPr lang="ko-KR" altLang="en-US" sz="800" b="1" dirty="0"/>
                        <a:t>미디어 </a:t>
                      </a:r>
                      <a:r>
                        <a:rPr lang="en-US" altLang="ko-KR" sz="800" b="1" dirty="0"/>
                        <a:t>&amp; </a:t>
                      </a:r>
                      <a:r>
                        <a:rPr lang="ko-KR" altLang="en-US" sz="800" b="1" dirty="0"/>
                        <a:t>커뮤니티</a:t>
                      </a:r>
                      <a:r>
                        <a:rPr lang="en-US" altLang="ko-KR" sz="800" b="1" dirty="0"/>
                        <a:t>:</a:t>
                      </a:r>
                      <a:r>
                        <a:rPr lang="ko-KR" altLang="en-US" sz="800" dirty="0"/>
                        <a:t> 유튜브 영상 갤러리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한능검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 err="1"/>
                        <a:t>집밥</a:t>
                      </a:r>
                      <a:r>
                        <a:rPr lang="ko-KR" altLang="en-US" sz="800" dirty="0"/>
                        <a:t> 백과 등</a:t>
                      </a:r>
                      <a:r>
                        <a:rPr lang="en-US" altLang="ko-KR" sz="800" dirty="0"/>
                        <a:t>), </a:t>
                      </a:r>
                      <a:r>
                        <a:rPr lang="ko-KR" altLang="en-US" sz="800" dirty="0"/>
                        <a:t>진행 중인 이벤트 목록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공식 </a:t>
                      </a:r>
                      <a:r>
                        <a:rPr lang="en-US" altLang="ko-KR" sz="800" dirty="0"/>
                        <a:t>SNS(</a:t>
                      </a:r>
                      <a:r>
                        <a:rPr lang="ko-KR" altLang="en-US" sz="800" dirty="0"/>
                        <a:t>인스타그램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유튜브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블로그</a:t>
                      </a:r>
                      <a:r>
                        <a:rPr lang="en-US" altLang="ko-KR" sz="800" dirty="0"/>
                        <a:t>/</a:t>
                      </a:r>
                      <a:r>
                        <a:rPr lang="ko-KR" altLang="en-US" sz="800" dirty="0"/>
                        <a:t>카페</a:t>
                      </a:r>
                      <a:r>
                        <a:rPr lang="en-US" altLang="ko-KR" sz="800" dirty="0"/>
                        <a:t>) </a:t>
                      </a:r>
                      <a:r>
                        <a:rPr lang="ko-KR" altLang="en-US" sz="800" dirty="0"/>
                        <a:t>링크 연동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378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주요 고객</a:t>
                      </a:r>
                    </a:p>
                  </a:txBody>
                  <a:tcPr marL="68352" marR="68352" marT="34176" marB="34176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just" latinLnBrk="1">
                        <a:lnSpc>
                          <a:spcPct val="13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dirty="0"/>
                        <a:t>초</a:t>
                      </a:r>
                      <a:r>
                        <a:rPr lang="en-US" altLang="ko-KR" sz="800" dirty="0"/>
                        <a:t>·</a:t>
                      </a:r>
                      <a:r>
                        <a:rPr lang="ko-KR" altLang="en-US" sz="800" dirty="0"/>
                        <a:t>중</a:t>
                      </a:r>
                      <a:r>
                        <a:rPr lang="en-US" altLang="ko-KR" sz="800" dirty="0"/>
                        <a:t>·</a:t>
                      </a:r>
                      <a:r>
                        <a:rPr lang="ko-KR" altLang="en-US" sz="800" dirty="0"/>
                        <a:t>고등학생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학부모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학교 및 학원 교사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일반 독자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단행본 구독자</a:t>
                      </a:r>
                      <a:r>
                        <a:rPr lang="en-US" altLang="ko-KR" sz="800" dirty="0"/>
                        <a:t>)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68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서비스 채널</a:t>
                      </a:r>
                    </a:p>
                  </a:txBody>
                  <a:tcPr marL="68352" marR="68352" marT="34176" marB="34176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just" latinLnBrk="1">
                        <a:lnSpc>
                          <a:spcPct val="13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dirty="0"/>
                        <a:t>반응형 웹사이트 </a:t>
                      </a:r>
                      <a:r>
                        <a:rPr lang="en-US" altLang="ko-KR" sz="800" dirty="0"/>
                        <a:t>(PC, </a:t>
                      </a:r>
                      <a:r>
                        <a:rPr lang="ko-KR" altLang="en-US" sz="800" dirty="0"/>
                        <a:t>태블릿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모바일</a:t>
                      </a:r>
                      <a:r>
                        <a:rPr lang="en-US" altLang="ko-KR" sz="800" dirty="0"/>
                        <a:t>)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63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기타</a:t>
                      </a:r>
                      <a:r>
                        <a:rPr lang="en-US" altLang="ko-KR" sz="800" b="1" dirty="0"/>
                        <a:t>(</a:t>
                      </a:r>
                      <a:r>
                        <a:rPr lang="ko-KR" altLang="en-US" sz="800" b="1" dirty="0" err="1"/>
                        <a:t>오픈시점</a:t>
                      </a:r>
                      <a:r>
                        <a:rPr lang="ko-KR" altLang="en-US" sz="800" b="1" dirty="0"/>
                        <a:t> 등</a:t>
                      </a:r>
                      <a:r>
                        <a:rPr lang="en-US" altLang="ko-KR" sz="800" b="1" dirty="0"/>
                        <a:t>)</a:t>
                      </a:r>
                      <a:endParaRPr lang="ko-KR" altLang="en-US" sz="800" b="1" dirty="0"/>
                    </a:p>
                  </a:txBody>
                  <a:tcPr marL="68352" marR="68352" marT="34176" marB="34176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1" dirty="0"/>
                        <a:t>특이사항</a:t>
                      </a:r>
                      <a:r>
                        <a:rPr lang="en-US" altLang="ko-KR" sz="800" b="1" dirty="0"/>
                        <a:t>:</a:t>
                      </a:r>
                      <a:r>
                        <a:rPr lang="ko-KR" altLang="en-US" sz="800" dirty="0"/>
                        <a:t> </a:t>
                      </a:r>
                      <a:r>
                        <a:rPr lang="en-US" altLang="ko-KR" sz="800" dirty="0"/>
                        <a:t>'</a:t>
                      </a:r>
                      <a:r>
                        <a:rPr lang="ko-KR" altLang="en-US" sz="800" dirty="0"/>
                        <a:t>초등 수능 수학 </a:t>
                      </a:r>
                      <a:r>
                        <a:rPr lang="en-US" altLang="ko-KR" sz="800" dirty="0"/>
                        <a:t>KICK', '</a:t>
                      </a:r>
                      <a:r>
                        <a:rPr lang="ko-KR" altLang="en-US" sz="800" dirty="0" err="1"/>
                        <a:t>뭔말</a:t>
                      </a:r>
                      <a:r>
                        <a:rPr lang="ko-KR" altLang="en-US" sz="800" dirty="0"/>
                        <a:t> 과학 용어</a:t>
                      </a:r>
                      <a:r>
                        <a:rPr lang="en-US" altLang="ko-KR" sz="800" dirty="0"/>
                        <a:t>' </a:t>
                      </a:r>
                      <a:r>
                        <a:rPr lang="ko-KR" altLang="en-US" sz="800" dirty="0"/>
                        <a:t>등 핵심 도서 시리즈 중심의 마케팅 전개</a:t>
                      </a:r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3251EEDD-28BE-4E9C-A6AE-C8F34434803B}"/>
              </a:ext>
            </a:extLst>
          </p:cNvPr>
          <p:cNvSpPr txBox="1"/>
          <p:nvPr/>
        </p:nvSpPr>
        <p:spPr>
          <a:xfrm>
            <a:off x="264479" y="4548857"/>
            <a:ext cx="15265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서비스 개요</a:t>
            </a:r>
            <a:endParaRPr lang="en-US" altLang="ko-KR" sz="14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46674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5" name="꺾인 연결선 51">
            <a:extLst>
              <a:ext uri="{FF2B5EF4-FFF2-40B4-BE49-F238E27FC236}">
                <a16:creationId xmlns:a16="http://schemas.microsoft.com/office/drawing/2014/main" id="{E058C9CE-AAAC-4953-B0FC-38ECCF00F223}"/>
              </a:ext>
            </a:extLst>
          </p:cNvPr>
          <p:cNvCxnSpPr>
            <a:cxnSpLocks/>
          </p:cNvCxnSpPr>
          <p:nvPr/>
        </p:nvCxnSpPr>
        <p:spPr>
          <a:xfrm rot="10800000">
            <a:off x="2799220" y="2060367"/>
            <a:ext cx="1341725" cy="638404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평행 사변형 55">
            <a:extLst>
              <a:ext uri="{FF2B5EF4-FFF2-40B4-BE49-F238E27FC236}">
                <a16:creationId xmlns:a16="http://schemas.microsoft.com/office/drawing/2014/main" id="{C0245C10-3468-47CC-8C09-D3624B80E46C}"/>
              </a:ext>
            </a:extLst>
          </p:cNvPr>
          <p:cNvSpPr/>
          <p:nvPr/>
        </p:nvSpPr>
        <p:spPr>
          <a:xfrm>
            <a:off x="5104088" y="3201418"/>
            <a:ext cx="1325434" cy="343130"/>
          </a:xfrm>
          <a:prstGeom prst="parallelogram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ko-KR" altLang="en-US" sz="75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아이디</a:t>
            </a:r>
            <a:r>
              <a:rPr lang="en-US" altLang="ko-KR" sz="75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/</a:t>
            </a:r>
            <a:r>
              <a:rPr lang="ko-KR" altLang="en-US" sz="75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비밀번호 입력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1798D27-856C-4ABE-AD88-3547832FE000}"/>
              </a:ext>
            </a:extLst>
          </p:cNvPr>
          <p:cNvSpPr txBox="1"/>
          <p:nvPr/>
        </p:nvSpPr>
        <p:spPr>
          <a:xfrm>
            <a:off x="-8305" y="337220"/>
            <a:ext cx="45803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책 상세 정보 조회 플로우</a:t>
            </a:r>
          </a:p>
        </p:txBody>
      </p:sp>
      <p:sp>
        <p:nvSpPr>
          <p:cNvPr id="58" name="모서리가 둥근 직사각형 57">
            <a:extLst>
              <a:ext uri="{FF2B5EF4-FFF2-40B4-BE49-F238E27FC236}">
                <a16:creationId xmlns:a16="http://schemas.microsoft.com/office/drawing/2014/main" id="{4C571064-81D9-41A8-AD92-C492C30DC26F}"/>
              </a:ext>
            </a:extLst>
          </p:cNvPr>
          <p:cNvSpPr/>
          <p:nvPr/>
        </p:nvSpPr>
        <p:spPr>
          <a:xfrm>
            <a:off x="1775635" y="721536"/>
            <a:ext cx="849068" cy="338400"/>
          </a:xfrm>
          <a:prstGeom prst="roundRect">
            <a:avLst>
              <a:gd name="adj" fmla="val 50000"/>
            </a:avLst>
          </a:prstGeom>
          <a:solidFill>
            <a:srgbClr val="FFF2E9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시작</a:t>
            </a:r>
            <a:endParaRPr lang="ko-KR" altLang="en-US" sz="10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Segoe UI" panose="020B0502040204020203" pitchFamily="34" charset="0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A3D26EA4-1BEC-4D52-A248-9DEED862A71D}"/>
              </a:ext>
            </a:extLst>
          </p:cNvPr>
          <p:cNvSpPr/>
          <p:nvPr/>
        </p:nvSpPr>
        <p:spPr>
          <a:xfrm>
            <a:off x="1784197" y="1396994"/>
            <a:ext cx="840506" cy="33855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ko-KR" altLang="en-US" sz="75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책 제목 검색</a:t>
            </a: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6F541ABC-B8DD-46A0-BD55-31C4324E4F89}"/>
              </a:ext>
            </a:extLst>
          </p:cNvPr>
          <p:cNvSpPr/>
          <p:nvPr/>
        </p:nvSpPr>
        <p:spPr>
          <a:xfrm>
            <a:off x="1696534" y="2539285"/>
            <a:ext cx="1015830" cy="338554"/>
          </a:xfrm>
          <a:prstGeom prst="flowChartDecision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결과에 책이</a:t>
            </a:r>
            <a:endParaRPr lang="en-US" altLang="ko-KR" sz="750" dirty="0"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Segoe UI" panose="020B0502040204020203" pitchFamily="34" charset="0"/>
            </a:endParaRPr>
          </a:p>
          <a:p>
            <a:pPr algn="ctr"/>
            <a:r>
              <a:rPr lang="ko-KR" altLang="en-US" sz="75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있습니까</a:t>
            </a:r>
            <a:r>
              <a:rPr lang="en-US" altLang="ko-KR" sz="75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?</a:t>
            </a:r>
            <a:endParaRPr lang="ko-KR" altLang="en-US" sz="750" dirty="0"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Segoe UI" panose="020B0502040204020203" pitchFamily="34" charset="0"/>
            </a:endParaRPr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5B0FD2A9-4D22-4387-957E-D0A08A936493}"/>
              </a:ext>
            </a:extLst>
          </p:cNvPr>
          <p:cNvCxnSpPr>
            <a:cxnSpLocks/>
          </p:cNvCxnSpPr>
          <p:nvPr/>
        </p:nvCxnSpPr>
        <p:spPr>
          <a:xfrm>
            <a:off x="2203023" y="1773182"/>
            <a:ext cx="2854" cy="159304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5A2F5531-EEB3-43C4-9F84-C7A4D48D989B}"/>
              </a:ext>
            </a:extLst>
          </p:cNvPr>
          <p:cNvCxnSpPr>
            <a:cxnSpLocks/>
          </p:cNvCxnSpPr>
          <p:nvPr/>
        </p:nvCxnSpPr>
        <p:spPr>
          <a:xfrm>
            <a:off x="2794958" y="2713484"/>
            <a:ext cx="261402" cy="0"/>
          </a:xfrm>
          <a:prstGeom prst="straightConnector1">
            <a:avLst/>
          </a:prstGeom>
          <a:ln>
            <a:solidFill>
              <a:srgbClr val="FF0000"/>
            </a:solidFill>
            <a:headEnd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5DBA1496-AB2D-4545-B4F6-BD901EA2C55F}"/>
              </a:ext>
            </a:extLst>
          </p:cNvPr>
          <p:cNvSpPr/>
          <p:nvPr/>
        </p:nvSpPr>
        <p:spPr>
          <a:xfrm>
            <a:off x="3130731" y="2575565"/>
            <a:ext cx="1153237" cy="33855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ko-KR" altLang="en-US" sz="750" dirty="0">
                <a:solidFill>
                  <a:srgbClr val="000000"/>
                </a:solidFill>
                <a:highlight>
                  <a:srgbClr val="F9F9F9"/>
                </a:highlight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검색 결과 없음 </a:t>
            </a:r>
            <a:r>
              <a:rPr lang="ko-KR" altLang="en-US" sz="750" dirty="0" err="1">
                <a:solidFill>
                  <a:srgbClr val="000000"/>
                </a:solidFill>
                <a:highlight>
                  <a:srgbClr val="F9F9F9"/>
                </a:highlight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메세지</a:t>
            </a:r>
            <a:endParaRPr lang="ko-KR" altLang="en-US" sz="750" dirty="0">
              <a:solidFill>
                <a:srgbClr val="000000"/>
              </a:solidFill>
              <a:highlight>
                <a:srgbClr val="F9F9F9"/>
              </a:highlight>
              <a:latin typeface="나눔고딕" panose="020D0604000000000000" pitchFamily="50" charset="-127"/>
              <a:ea typeface="나눔고딕" panose="020D0604000000000000" pitchFamily="50" charset="-127"/>
              <a:cs typeface="Segoe UI" panose="020B0502040204020203" pitchFamily="34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CEB3E6C-6E2D-4BD1-8D6A-2260E4C1472B}"/>
              </a:ext>
            </a:extLst>
          </p:cNvPr>
          <p:cNvSpPr txBox="1"/>
          <p:nvPr/>
        </p:nvSpPr>
        <p:spPr>
          <a:xfrm>
            <a:off x="2254821" y="2867025"/>
            <a:ext cx="32252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b="1" dirty="0">
                <a:solidFill>
                  <a:srgbClr val="0078D7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YES</a:t>
            </a:r>
            <a:endParaRPr lang="ko-KR" altLang="en-US" sz="600" b="1" dirty="0">
              <a:solidFill>
                <a:srgbClr val="0078D7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9032F5B2-C1EB-4A39-9F1F-854135E61A81}"/>
              </a:ext>
            </a:extLst>
          </p:cNvPr>
          <p:cNvCxnSpPr>
            <a:cxnSpLocks/>
          </p:cNvCxnSpPr>
          <p:nvPr/>
        </p:nvCxnSpPr>
        <p:spPr>
          <a:xfrm>
            <a:off x="2210075" y="2881523"/>
            <a:ext cx="2854" cy="159304"/>
          </a:xfrm>
          <a:prstGeom prst="straightConnector1">
            <a:avLst/>
          </a:prstGeom>
          <a:ln>
            <a:solidFill>
              <a:srgbClr val="0078D7"/>
            </a:solidFill>
            <a:headEnd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89CC2D7F-214E-4B0B-8ABC-11BD0A62FCD6}"/>
              </a:ext>
            </a:extLst>
          </p:cNvPr>
          <p:cNvSpPr/>
          <p:nvPr/>
        </p:nvSpPr>
        <p:spPr>
          <a:xfrm>
            <a:off x="1791249" y="3106177"/>
            <a:ext cx="840506" cy="33855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ko-KR" altLang="en-US" sz="75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책 클릭</a:t>
            </a:r>
          </a:p>
        </p:txBody>
      </p: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533E5E80-71B6-475A-8D64-B6453E05E45D}"/>
              </a:ext>
            </a:extLst>
          </p:cNvPr>
          <p:cNvCxnSpPr>
            <a:cxnSpLocks/>
          </p:cNvCxnSpPr>
          <p:nvPr/>
        </p:nvCxnSpPr>
        <p:spPr>
          <a:xfrm>
            <a:off x="2210075" y="3490284"/>
            <a:ext cx="2854" cy="159304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BD74F3AF-FEA8-4D6C-AB73-E6B431ED7C92}"/>
              </a:ext>
            </a:extLst>
          </p:cNvPr>
          <p:cNvSpPr/>
          <p:nvPr/>
        </p:nvSpPr>
        <p:spPr>
          <a:xfrm>
            <a:off x="1250511" y="3736786"/>
            <a:ext cx="1910732" cy="99729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ko-KR" altLang="en-US" sz="75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책 상세 페이지 노출</a:t>
            </a:r>
          </a:p>
        </p:txBody>
      </p:sp>
      <p:sp>
        <p:nvSpPr>
          <p:cNvPr id="79" name="모서리가 둥근 직사각형 78">
            <a:extLst>
              <a:ext uri="{FF2B5EF4-FFF2-40B4-BE49-F238E27FC236}">
                <a16:creationId xmlns:a16="http://schemas.microsoft.com/office/drawing/2014/main" id="{80F4EF49-1194-4449-A0A1-8FF494E8068F}"/>
              </a:ext>
            </a:extLst>
          </p:cNvPr>
          <p:cNvSpPr/>
          <p:nvPr/>
        </p:nvSpPr>
        <p:spPr>
          <a:xfrm>
            <a:off x="1784197" y="4986118"/>
            <a:ext cx="840506" cy="338400"/>
          </a:xfrm>
          <a:prstGeom prst="roundRect">
            <a:avLst>
              <a:gd name="adj" fmla="val 50000"/>
            </a:avLst>
          </a:prstGeom>
          <a:solidFill>
            <a:srgbClr val="FFF2E9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완료</a:t>
            </a:r>
            <a:endParaRPr lang="ko-KR" altLang="en-US" sz="10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Segoe UI" panose="020B0502040204020203" pitchFamily="34" charset="0"/>
            </a:endParaRPr>
          </a:p>
        </p:txBody>
      </p: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5E8CD1DC-58C2-46B5-85BA-70E1A0B404A4}"/>
              </a:ext>
            </a:extLst>
          </p:cNvPr>
          <p:cNvCxnSpPr>
            <a:cxnSpLocks/>
          </p:cNvCxnSpPr>
          <p:nvPr/>
        </p:nvCxnSpPr>
        <p:spPr>
          <a:xfrm>
            <a:off x="2196994" y="4800113"/>
            <a:ext cx="0" cy="144404"/>
          </a:xfrm>
          <a:prstGeom prst="straightConnector1">
            <a:avLst/>
          </a:prstGeom>
          <a:ln>
            <a:solidFill>
              <a:srgbClr val="F47710"/>
            </a:solidFill>
            <a:headEnd w="sm" len="sm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모서리가 둥근 직사각형 84">
            <a:extLst>
              <a:ext uri="{FF2B5EF4-FFF2-40B4-BE49-F238E27FC236}">
                <a16:creationId xmlns:a16="http://schemas.microsoft.com/office/drawing/2014/main" id="{8FDF1BE9-EC0C-4E73-BE0A-9EC7BB4BEFE3}"/>
              </a:ext>
            </a:extLst>
          </p:cNvPr>
          <p:cNvSpPr/>
          <p:nvPr/>
        </p:nvSpPr>
        <p:spPr>
          <a:xfrm>
            <a:off x="5338182" y="721536"/>
            <a:ext cx="849068" cy="338400"/>
          </a:xfrm>
          <a:prstGeom prst="roundRect">
            <a:avLst>
              <a:gd name="adj" fmla="val 50000"/>
            </a:avLst>
          </a:prstGeom>
          <a:solidFill>
            <a:srgbClr val="FFF2E9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시작</a:t>
            </a:r>
            <a:endParaRPr lang="ko-KR" altLang="en-US" sz="10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Segoe UI" panose="020B0502040204020203" pitchFamily="34" charset="0"/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5B65ADE7-6BC0-4662-A42C-2CFEB6F02973}"/>
              </a:ext>
            </a:extLst>
          </p:cNvPr>
          <p:cNvSpPr/>
          <p:nvPr/>
        </p:nvSpPr>
        <p:spPr>
          <a:xfrm>
            <a:off x="5198059" y="1396994"/>
            <a:ext cx="1137876" cy="33855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ko-KR" altLang="en-US" sz="750" dirty="0" err="1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프리모아</a:t>
            </a:r>
            <a:r>
              <a:rPr lang="ko-KR" altLang="en-US" sz="75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 웹사이트접속</a:t>
            </a:r>
          </a:p>
        </p:txBody>
      </p:sp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F7F1716E-9151-495B-B433-27D97257FF5C}"/>
              </a:ext>
            </a:extLst>
          </p:cNvPr>
          <p:cNvSpPr/>
          <p:nvPr/>
        </p:nvSpPr>
        <p:spPr>
          <a:xfrm>
            <a:off x="5259082" y="1989782"/>
            <a:ext cx="1015830" cy="338554"/>
          </a:xfrm>
          <a:prstGeom prst="flowChartDecision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계정이 있습니까</a:t>
            </a:r>
            <a:r>
              <a:rPr lang="en-US" altLang="ko-KR" sz="75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?</a:t>
            </a:r>
            <a:endParaRPr lang="ko-KR" altLang="en-US" sz="750" dirty="0"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Segoe UI" panose="020B0502040204020203" pitchFamily="34" charset="0"/>
            </a:endParaRPr>
          </a:p>
        </p:txBody>
      </p: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A3D0C245-3E1C-432B-B180-05D0E8EF92B5}"/>
              </a:ext>
            </a:extLst>
          </p:cNvPr>
          <p:cNvCxnSpPr>
            <a:cxnSpLocks/>
          </p:cNvCxnSpPr>
          <p:nvPr/>
        </p:nvCxnSpPr>
        <p:spPr>
          <a:xfrm>
            <a:off x="5765570" y="1773182"/>
            <a:ext cx="2854" cy="159304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9D09828B-6410-4B49-975A-1E4F8F322258}"/>
              </a:ext>
            </a:extLst>
          </p:cNvPr>
          <p:cNvCxnSpPr>
            <a:cxnSpLocks/>
          </p:cNvCxnSpPr>
          <p:nvPr/>
        </p:nvCxnSpPr>
        <p:spPr>
          <a:xfrm>
            <a:off x="6350453" y="2159059"/>
            <a:ext cx="261402" cy="0"/>
          </a:xfrm>
          <a:prstGeom prst="straightConnector1">
            <a:avLst/>
          </a:prstGeom>
          <a:ln>
            <a:solidFill>
              <a:srgbClr val="FF0000"/>
            </a:solidFill>
            <a:headEnd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9D1FA220-2AC7-488E-92FD-AAB727F9E0F0}"/>
              </a:ext>
            </a:extLst>
          </p:cNvPr>
          <p:cNvSpPr/>
          <p:nvPr/>
        </p:nvSpPr>
        <p:spPr>
          <a:xfrm>
            <a:off x="6686227" y="1983422"/>
            <a:ext cx="840506" cy="33855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ko-KR" altLang="en-US" sz="75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회원가입</a:t>
            </a: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F0A341A0-5E89-461A-B7DE-58F26DF8B530}"/>
              </a:ext>
            </a:extLst>
          </p:cNvPr>
          <p:cNvSpPr/>
          <p:nvPr/>
        </p:nvSpPr>
        <p:spPr>
          <a:xfrm>
            <a:off x="7838321" y="1983422"/>
            <a:ext cx="967661" cy="33855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ko-KR" altLang="en-US" sz="75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회원가입 정보입력</a:t>
            </a:r>
          </a:p>
        </p:txBody>
      </p: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88C5D7D0-C7D1-4535-9D94-B521F467159D}"/>
              </a:ext>
            </a:extLst>
          </p:cNvPr>
          <p:cNvCxnSpPr>
            <a:cxnSpLocks/>
          </p:cNvCxnSpPr>
          <p:nvPr/>
        </p:nvCxnSpPr>
        <p:spPr>
          <a:xfrm>
            <a:off x="7593225" y="2159059"/>
            <a:ext cx="178604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5F361EB6-C4C7-4890-80D3-32920BD1A110}"/>
              </a:ext>
            </a:extLst>
          </p:cNvPr>
          <p:cNvSpPr txBox="1"/>
          <p:nvPr/>
        </p:nvSpPr>
        <p:spPr>
          <a:xfrm>
            <a:off x="6314445" y="1968033"/>
            <a:ext cx="30328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NO</a:t>
            </a:r>
            <a:endParaRPr lang="ko-KR" altLang="en-US" sz="6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89A4301-0E27-40A9-9B2E-ED3B8A767A2F}"/>
              </a:ext>
            </a:extLst>
          </p:cNvPr>
          <p:cNvSpPr txBox="1"/>
          <p:nvPr/>
        </p:nvSpPr>
        <p:spPr>
          <a:xfrm>
            <a:off x="5810316" y="2377042"/>
            <a:ext cx="32252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b="1" dirty="0">
                <a:solidFill>
                  <a:srgbClr val="0078D7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YES</a:t>
            </a:r>
            <a:endParaRPr lang="ko-KR" altLang="en-US" sz="600" b="1" dirty="0">
              <a:solidFill>
                <a:srgbClr val="0078D7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B94AFE8D-FA9D-4568-8D06-3E02FBB79BC5}"/>
              </a:ext>
            </a:extLst>
          </p:cNvPr>
          <p:cNvCxnSpPr>
            <a:cxnSpLocks/>
          </p:cNvCxnSpPr>
          <p:nvPr/>
        </p:nvCxnSpPr>
        <p:spPr>
          <a:xfrm>
            <a:off x="5765570" y="2391540"/>
            <a:ext cx="2854" cy="159304"/>
          </a:xfrm>
          <a:prstGeom prst="straightConnector1">
            <a:avLst/>
          </a:prstGeom>
          <a:ln>
            <a:solidFill>
              <a:srgbClr val="0078D7"/>
            </a:solidFill>
            <a:headEnd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59C6B0BE-0DF4-4F39-8223-38DF9B4ADFB5}"/>
              </a:ext>
            </a:extLst>
          </p:cNvPr>
          <p:cNvSpPr/>
          <p:nvPr/>
        </p:nvSpPr>
        <p:spPr>
          <a:xfrm>
            <a:off x="5346744" y="2616194"/>
            <a:ext cx="840506" cy="33855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ko-KR" altLang="en-US" sz="75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로그인</a:t>
            </a:r>
          </a:p>
        </p:txBody>
      </p: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283D2AEF-3863-4DF2-B232-0C9F93DCFD37}"/>
              </a:ext>
            </a:extLst>
          </p:cNvPr>
          <p:cNvCxnSpPr>
            <a:cxnSpLocks/>
          </p:cNvCxnSpPr>
          <p:nvPr/>
        </p:nvCxnSpPr>
        <p:spPr>
          <a:xfrm>
            <a:off x="8342707" y="2550844"/>
            <a:ext cx="0" cy="160371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7A8B0EAE-A922-43A6-8E61-270FA74A1BBD}"/>
              </a:ext>
            </a:extLst>
          </p:cNvPr>
          <p:cNvSpPr/>
          <p:nvPr/>
        </p:nvSpPr>
        <p:spPr>
          <a:xfrm>
            <a:off x="7839466" y="4394562"/>
            <a:ext cx="967661" cy="33855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ko-KR" altLang="en-US" sz="75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가입완료</a:t>
            </a:r>
          </a:p>
        </p:txBody>
      </p: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6170BAEC-C5EE-4511-9E46-74AA6FA301B1}"/>
              </a:ext>
            </a:extLst>
          </p:cNvPr>
          <p:cNvCxnSpPr>
            <a:cxnSpLocks/>
          </p:cNvCxnSpPr>
          <p:nvPr/>
        </p:nvCxnSpPr>
        <p:spPr>
          <a:xfrm flipH="1">
            <a:off x="6335935" y="4573821"/>
            <a:ext cx="1325569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4A9733C0-A759-4CA7-A5DE-98AAFF7B3D69}"/>
              </a:ext>
            </a:extLst>
          </p:cNvPr>
          <p:cNvCxnSpPr>
            <a:cxnSpLocks/>
          </p:cNvCxnSpPr>
          <p:nvPr/>
        </p:nvCxnSpPr>
        <p:spPr>
          <a:xfrm>
            <a:off x="5765570" y="3000301"/>
            <a:ext cx="2854" cy="159304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D3453D9A-E108-45ED-9350-8142703E610A}"/>
              </a:ext>
            </a:extLst>
          </p:cNvPr>
          <p:cNvCxnSpPr>
            <a:cxnSpLocks/>
          </p:cNvCxnSpPr>
          <p:nvPr/>
        </p:nvCxnSpPr>
        <p:spPr>
          <a:xfrm>
            <a:off x="5765570" y="3579122"/>
            <a:ext cx="2854" cy="159304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사각형: 둥근 모서리 102">
            <a:extLst>
              <a:ext uri="{FF2B5EF4-FFF2-40B4-BE49-F238E27FC236}">
                <a16:creationId xmlns:a16="http://schemas.microsoft.com/office/drawing/2014/main" id="{CD6BC275-567E-4FF6-B8F8-9854F4D76E8A}"/>
              </a:ext>
            </a:extLst>
          </p:cNvPr>
          <p:cNvSpPr/>
          <p:nvPr/>
        </p:nvSpPr>
        <p:spPr>
          <a:xfrm>
            <a:off x="5027397" y="3789674"/>
            <a:ext cx="1479200" cy="338554"/>
          </a:xfrm>
          <a:prstGeom prst="flowChartDecision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아이디</a:t>
            </a:r>
            <a:r>
              <a:rPr lang="en-US" altLang="ko-KR" sz="75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/</a:t>
            </a:r>
            <a:r>
              <a:rPr lang="ko-KR" altLang="en-US" sz="75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비밀번호</a:t>
            </a:r>
            <a:endParaRPr lang="en-US" altLang="ko-KR" sz="750" dirty="0"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Segoe UI" panose="020B0502040204020203" pitchFamily="34" charset="0"/>
            </a:endParaRPr>
          </a:p>
          <a:p>
            <a:pPr algn="ctr"/>
            <a:r>
              <a:rPr lang="ko-KR" altLang="en-US" sz="75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확인</a:t>
            </a: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8BA99EDD-6CEE-4FD7-84D8-BDDA7EB73F96}"/>
              </a:ext>
            </a:extLst>
          </p:cNvPr>
          <p:cNvSpPr/>
          <p:nvPr/>
        </p:nvSpPr>
        <p:spPr>
          <a:xfrm>
            <a:off x="5346744" y="4397748"/>
            <a:ext cx="840506" cy="33855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ko-KR" altLang="en-US" sz="75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마이페이지 노출</a:t>
            </a:r>
          </a:p>
        </p:txBody>
      </p:sp>
      <p:sp>
        <p:nvSpPr>
          <p:cNvPr id="105" name="모서리가 둥근 직사각형 104">
            <a:extLst>
              <a:ext uri="{FF2B5EF4-FFF2-40B4-BE49-F238E27FC236}">
                <a16:creationId xmlns:a16="http://schemas.microsoft.com/office/drawing/2014/main" id="{1545CF5C-9652-42C9-B52D-EA916D78866C}"/>
              </a:ext>
            </a:extLst>
          </p:cNvPr>
          <p:cNvSpPr/>
          <p:nvPr/>
        </p:nvSpPr>
        <p:spPr>
          <a:xfrm>
            <a:off x="5346744" y="4986118"/>
            <a:ext cx="840506" cy="338400"/>
          </a:xfrm>
          <a:prstGeom prst="roundRect">
            <a:avLst>
              <a:gd name="adj" fmla="val 50000"/>
            </a:avLst>
          </a:prstGeom>
          <a:solidFill>
            <a:srgbClr val="FFF2E9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완료</a:t>
            </a:r>
            <a:endParaRPr lang="ko-KR" altLang="en-US" sz="10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Segoe UI" panose="020B0502040204020203" pitchFamily="34" charset="0"/>
            </a:endParaRPr>
          </a:p>
        </p:txBody>
      </p:sp>
      <p:cxnSp>
        <p:nvCxnSpPr>
          <p:cNvPr id="106" name="직선 화살표 연결선 105">
            <a:extLst>
              <a:ext uri="{FF2B5EF4-FFF2-40B4-BE49-F238E27FC236}">
                <a16:creationId xmlns:a16="http://schemas.microsoft.com/office/drawing/2014/main" id="{A225B93D-2579-44CC-A591-F86C1F45C7AA}"/>
              </a:ext>
            </a:extLst>
          </p:cNvPr>
          <p:cNvCxnSpPr>
            <a:cxnSpLocks/>
          </p:cNvCxnSpPr>
          <p:nvPr/>
        </p:nvCxnSpPr>
        <p:spPr>
          <a:xfrm>
            <a:off x="5759541" y="4800113"/>
            <a:ext cx="0" cy="144404"/>
          </a:xfrm>
          <a:prstGeom prst="straightConnector1">
            <a:avLst/>
          </a:prstGeom>
          <a:ln>
            <a:solidFill>
              <a:srgbClr val="F47710"/>
            </a:solidFill>
            <a:headEnd w="sm" len="sm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꺾인 연결선 51">
            <a:extLst>
              <a:ext uri="{FF2B5EF4-FFF2-40B4-BE49-F238E27FC236}">
                <a16:creationId xmlns:a16="http://schemas.microsoft.com/office/drawing/2014/main" id="{3290B2E1-F73B-4375-940C-E7DDB2F06D8F}"/>
              </a:ext>
            </a:extLst>
          </p:cNvPr>
          <p:cNvCxnSpPr>
            <a:cxnSpLocks/>
          </p:cNvCxnSpPr>
          <p:nvPr/>
        </p:nvCxnSpPr>
        <p:spPr>
          <a:xfrm rot="10800000">
            <a:off x="6493897" y="2763669"/>
            <a:ext cx="12700" cy="1217083"/>
          </a:xfrm>
          <a:prstGeom prst="bentConnector3">
            <a:avLst>
              <a:gd name="adj1" fmla="val -5629024"/>
            </a:avLst>
          </a:prstGeom>
          <a:ln>
            <a:solidFill>
              <a:srgbClr val="FF0000"/>
            </a:solidFill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7937069A-B501-4877-AEAF-AA0C6C565FEF}"/>
              </a:ext>
            </a:extLst>
          </p:cNvPr>
          <p:cNvSpPr txBox="1"/>
          <p:nvPr/>
        </p:nvSpPr>
        <p:spPr>
          <a:xfrm>
            <a:off x="6705707" y="3773058"/>
            <a:ext cx="30328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NO</a:t>
            </a:r>
            <a:endParaRPr lang="ko-KR" altLang="en-US" sz="6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BDF07F9B-FB0D-4A5D-A43C-FF32EE93861D}"/>
              </a:ext>
            </a:extLst>
          </p:cNvPr>
          <p:cNvSpPr txBox="1"/>
          <p:nvPr/>
        </p:nvSpPr>
        <p:spPr>
          <a:xfrm>
            <a:off x="5810316" y="4162802"/>
            <a:ext cx="32252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b="1" dirty="0">
                <a:solidFill>
                  <a:srgbClr val="0078D7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YES</a:t>
            </a:r>
            <a:endParaRPr lang="ko-KR" altLang="en-US" sz="600" b="1" dirty="0">
              <a:solidFill>
                <a:srgbClr val="0078D7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10" name="직선 화살표 연결선 109">
            <a:extLst>
              <a:ext uri="{FF2B5EF4-FFF2-40B4-BE49-F238E27FC236}">
                <a16:creationId xmlns:a16="http://schemas.microsoft.com/office/drawing/2014/main" id="{BE7EBA11-63F9-4B8E-B14B-764B42E038F7}"/>
              </a:ext>
            </a:extLst>
          </p:cNvPr>
          <p:cNvCxnSpPr>
            <a:cxnSpLocks/>
          </p:cNvCxnSpPr>
          <p:nvPr/>
        </p:nvCxnSpPr>
        <p:spPr>
          <a:xfrm>
            <a:off x="5765570" y="4177300"/>
            <a:ext cx="2854" cy="159304"/>
          </a:xfrm>
          <a:prstGeom prst="straightConnector1">
            <a:avLst/>
          </a:prstGeom>
          <a:ln>
            <a:solidFill>
              <a:srgbClr val="0078D7"/>
            </a:solidFill>
            <a:headEnd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0A813FC0-47D4-4F8D-A11C-E349DECF8FA2}"/>
              </a:ext>
            </a:extLst>
          </p:cNvPr>
          <p:cNvSpPr/>
          <p:nvPr/>
        </p:nvSpPr>
        <p:spPr>
          <a:xfrm>
            <a:off x="6681920" y="3181972"/>
            <a:ext cx="1098099" cy="338554"/>
          </a:xfrm>
          <a:prstGeom prst="rect">
            <a:avLst/>
          </a:prstGeom>
          <a:solidFill>
            <a:schemeClr val="bg1"/>
          </a:solidFill>
          <a:ln w="9525" cap="rnd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altLang="ko-KR" sz="8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‘</a:t>
            </a:r>
            <a:r>
              <a:rPr lang="ko-KR" altLang="en-US" sz="75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아이디와 비밀번호를 </a:t>
            </a:r>
            <a:endParaRPr lang="en-US" altLang="ko-KR" sz="75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Segoe UI" panose="020B0502040204020203" pitchFamily="34" charset="0"/>
            </a:endParaRPr>
          </a:p>
          <a:p>
            <a:pPr algn="ctr"/>
            <a:r>
              <a:rPr lang="ko-KR" altLang="en-US" sz="75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확인해주세요</a:t>
            </a:r>
            <a:r>
              <a:rPr lang="en-US" altLang="ko-KR" sz="75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.’ </a:t>
            </a:r>
            <a:r>
              <a:rPr lang="ko-KR" altLang="en-US" sz="750" dirty="0" err="1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얼럿</a:t>
            </a:r>
            <a:endParaRPr lang="ko-KR" altLang="en-US" sz="75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Segoe UI" panose="020B0502040204020203" pitchFamily="34" charset="0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64B9737C-AF4C-4715-8F58-75FD2FA96A04}"/>
              </a:ext>
            </a:extLst>
          </p:cNvPr>
          <p:cNvSpPr txBox="1"/>
          <p:nvPr/>
        </p:nvSpPr>
        <p:spPr>
          <a:xfrm>
            <a:off x="4572000" y="350428"/>
            <a:ext cx="45636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장바구니 추가 프로세스</a:t>
            </a:r>
          </a:p>
        </p:txBody>
      </p:sp>
      <p:cxnSp>
        <p:nvCxnSpPr>
          <p:cNvPr id="113" name="직선 연결선 112">
            <a:extLst>
              <a:ext uri="{FF2B5EF4-FFF2-40B4-BE49-F238E27FC236}">
                <a16:creationId xmlns:a16="http://schemas.microsoft.com/office/drawing/2014/main" id="{32B5AF49-B377-4AD8-BC34-873DED121F0A}"/>
              </a:ext>
            </a:extLst>
          </p:cNvPr>
          <p:cNvCxnSpPr/>
          <p:nvPr/>
        </p:nvCxnSpPr>
        <p:spPr>
          <a:xfrm>
            <a:off x="4580308" y="195278"/>
            <a:ext cx="0" cy="551972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화살표 연결선 117">
            <a:extLst>
              <a:ext uri="{FF2B5EF4-FFF2-40B4-BE49-F238E27FC236}">
                <a16:creationId xmlns:a16="http://schemas.microsoft.com/office/drawing/2014/main" id="{5B0FD2A9-4D22-4387-957E-D0A08A936493}"/>
              </a:ext>
            </a:extLst>
          </p:cNvPr>
          <p:cNvCxnSpPr>
            <a:cxnSpLocks/>
          </p:cNvCxnSpPr>
          <p:nvPr/>
        </p:nvCxnSpPr>
        <p:spPr>
          <a:xfrm>
            <a:off x="2203023" y="1163482"/>
            <a:ext cx="2854" cy="159304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직선 화살표 연결선 118">
            <a:extLst>
              <a:ext uri="{FF2B5EF4-FFF2-40B4-BE49-F238E27FC236}">
                <a16:creationId xmlns:a16="http://schemas.microsoft.com/office/drawing/2014/main" id="{5B0FD2A9-4D22-4387-957E-D0A08A936493}"/>
              </a:ext>
            </a:extLst>
          </p:cNvPr>
          <p:cNvCxnSpPr>
            <a:cxnSpLocks/>
          </p:cNvCxnSpPr>
          <p:nvPr/>
        </p:nvCxnSpPr>
        <p:spPr>
          <a:xfrm>
            <a:off x="5749699" y="1163482"/>
            <a:ext cx="2854" cy="159304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E93F3C58-8001-408C-AC06-DBCAA001A696}"/>
              </a:ext>
            </a:extLst>
          </p:cNvPr>
          <p:cNvSpPr/>
          <p:nvPr/>
        </p:nvSpPr>
        <p:spPr>
          <a:xfrm>
            <a:off x="1627831" y="1942382"/>
            <a:ext cx="1153237" cy="33855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ko-KR" altLang="en-US" sz="75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검색 결과 목록 노출</a:t>
            </a:r>
          </a:p>
        </p:txBody>
      </p: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8D4146B0-36E7-4B7A-8831-D1B418EB2CB4}"/>
              </a:ext>
            </a:extLst>
          </p:cNvPr>
          <p:cNvCxnSpPr>
            <a:cxnSpLocks/>
          </p:cNvCxnSpPr>
          <p:nvPr/>
        </p:nvCxnSpPr>
        <p:spPr>
          <a:xfrm>
            <a:off x="2204449" y="2304169"/>
            <a:ext cx="2854" cy="159304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53710725-5F51-4DE8-B4B8-15D2F9DE7525}"/>
              </a:ext>
            </a:extLst>
          </p:cNvPr>
          <p:cNvSpPr txBox="1"/>
          <p:nvPr/>
        </p:nvSpPr>
        <p:spPr>
          <a:xfrm>
            <a:off x="2753072" y="2528818"/>
            <a:ext cx="30328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NO</a:t>
            </a:r>
            <a:endParaRPr lang="ko-KR" altLang="en-US" sz="6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31025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Display">
            <a:extLst>
              <a:ext uri="{FF2B5EF4-FFF2-40B4-BE49-F238E27FC236}">
                <a16:creationId xmlns:a16="http://schemas.microsoft.com/office/drawing/2014/main" id="{3A16EC33-B89C-4631-B8A9-894E0DE24846}"/>
              </a:ext>
            </a:extLst>
          </p:cNvPr>
          <p:cNvSpPr/>
          <p:nvPr/>
        </p:nvSpPr>
        <p:spPr>
          <a:xfrm>
            <a:off x="855068" y="741456"/>
            <a:ext cx="2157433" cy="4064000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63" name="Picture 2">
            <a:extLst>
              <a:ext uri="{FF2B5EF4-FFF2-40B4-BE49-F238E27FC236}">
                <a16:creationId xmlns:a16="http://schemas.microsoft.com/office/drawing/2014/main" id="{D2D92FDE-61C3-4B55-9ABE-E011104FA6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1707" y="377404"/>
            <a:ext cx="2052000" cy="4449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" name="Picture 4">
            <a:extLst>
              <a:ext uri="{FF2B5EF4-FFF2-40B4-BE49-F238E27FC236}">
                <a16:creationId xmlns:a16="http://schemas.microsoft.com/office/drawing/2014/main" id="{151B5ED9-D023-4F8F-BA0E-C879873EBA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77332" y="409228"/>
            <a:ext cx="2106179" cy="4592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5" name="그룹 64">
            <a:extLst>
              <a:ext uri="{FF2B5EF4-FFF2-40B4-BE49-F238E27FC236}">
                <a16:creationId xmlns:a16="http://schemas.microsoft.com/office/drawing/2014/main" id="{8C79F0D8-7CAD-4630-BF9F-D0328D0BCC1E}"/>
              </a:ext>
            </a:extLst>
          </p:cNvPr>
          <p:cNvGrpSpPr/>
          <p:nvPr/>
        </p:nvGrpSpPr>
        <p:grpSpPr>
          <a:xfrm>
            <a:off x="658936" y="626314"/>
            <a:ext cx="388720" cy="200055"/>
            <a:chOff x="4727047" y="5307508"/>
            <a:chExt cx="388720" cy="200055"/>
          </a:xfrm>
        </p:grpSpPr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856DA23E-0395-4F06-B0C5-6660D48D5944}"/>
                </a:ext>
              </a:extLst>
            </p:cNvPr>
            <p:cNvSpPr/>
            <p:nvPr/>
          </p:nvSpPr>
          <p:spPr>
            <a:xfrm>
              <a:off x="4831407" y="5317535"/>
              <a:ext cx="180000" cy="18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50800">
                <a:srgbClr val="FF0000">
                  <a:alpha val="30000"/>
                </a:srgbClr>
              </a:glo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56616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13232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69848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426464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83080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139696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96312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852928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9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7" name="TextBox 27">
              <a:extLst>
                <a:ext uri="{FF2B5EF4-FFF2-40B4-BE49-F238E27FC236}">
                  <a16:creationId xmlns:a16="http://schemas.microsoft.com/office/drawing/2014/main" id="{FAF57EDB-7B1D-4552-9AD1-1FDB105962A0}"/>
                </a:ext>
              </a:extLst>
            </p:cNvPr>
            <p:cNvSpPr txBox="1"/>
            <p:nvPr/>
          </p:nvSpPr>
          <p:spPr>
            <a:xfrm>
              <a:off x="4727047" y="5307508"/>
              <a:ext cx="38872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6616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13232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69848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26464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83080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39696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96312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852928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endParaRPr lang="ko-KR" altLang="en-US" sz="7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7B56E43C-CD3B-471A-A1E4-8546FE2A9AFF}"/>
              </a:ext>
            </a:extLst>
          </p:cNvPr>
          <p:cNvSpPr/>
          <p:nvPr/>
        </p:nvSpPr>
        <p:spPr>
          <a:xfrm>
            <a:off x="853296" y="2255366"/>
            <a:ext cx="1079024" cy="254087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850" dirty="0">
              <a:solidFill>
                <a:srgbClr val="0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8CB361AB-062C-462F-9C86-A69602503DEA}"/>
              </a:ext>
            </a:extLst>
          </p:cNvPr>
          <p:cNvSpPr/>
          <p:nvPr/>
        </p:nvSpPr>
        <p:spPr>
          <a:xfrm>
            <a:off x="1932819" y="2255365"/>
            <a:ext cx="1079682" cy="253345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850" dirty="0">
              <a:solidFill>
                <a:srgbClr val="0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F9727B9-9AEC-47CF-98B7-88A8DDB3CEC4}"/>
              </a:ext>
            </a:extLst>
          </p:cNvPr>
          <p:cNvSpPr txBox="1"/>
          <p:nvPr/>
        </p:nvSpPr>
        <p:spPr>
          <a:xfrm>
            <a:off x="869350" y="1673551"/>
            <a:ext cx="21551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IT </a:t>
            </a:r>
            <a:r>
              <a:rPr lang="ko-KR" altLang="en-US" sz="1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아웃소싱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플랫폼 </a:t>
            </a:r>
            <a:r>
              <a:rPr lang="ko-KR" altLang="en-US" sz="1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프리모아</a:t>
            </a:r>
            <a:endParaRPr lang="ko-KR" altLang="en-US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29ECD87-B44B-4D61-938E-FCADD1D3679E}"/>
              </a:ext>
            </a:extLst>
          </p:cNvPr>
          <p:cNvSpPr txBox="1"/>
          <p:nvPr/>
        </p:nvSpPr>
        <p:spPr>
          <a:xfrm>
            <a:off x="1360073" y="1899147"/>
            <a:ext cx="117371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Fast / Trust / Safe / Easy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01BCC18-8131-41FB-B057-8FC906B885A2}"/>
              </a:ext>
            </a:extLst>
          </p:cNvPr>
          <p:cNvSpPr txBox="1"/>
          <p:nvPr/>
        </p:nvSpPr>
        <p:spPr>
          <a:xfrm>
            <a:off x="873099" y="2400704"/>
            <a:ext cx="10792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프로젝트를 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의뢰하는 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클라이언트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D2479D5-DB39-44B3-A09B-6E6B296EBFE4}"/>
              </a:ext>
            </a:extLst>
          </p:cNvPr>
          <p:cNvSpPr txBox="1"/>
          <p:nvPr/>
        </p:nvSpPr>
        <p:spPr>
          <a:xfrm>
            <a:off x="1978576" y="2389029"/>
            <a:ext cx="10792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프로젝트를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수행하는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프리랜서</a:t>
            </a:r>
          </a:p>
        </p:txBody>
      </p:sp>
      <p:sp>
        <p:nvSpPr>
          <p:cNvPr id="81" name="모서리가 둥근 직사각형 23">
            <a:extLst>
              <a:ext uri="{FF2B5EF4-FFF2-40B4-BE49-F238E27FC236}">
                <a16:creationId xmlns:a16="http://schemas.microsoft.com/office/drawing/2014/main" id="{E4BA0A66-3D68-423D-ADAA-D2002D8CAEA8}"/>
              </a:ext>
            </a:extLst>
          </p:cNvPr>
          <p:cNvSpPr/>
          <p:nvPr/>
        </p:nvSpPr>
        <p:spPr>
          <a:xfrm>
            <a:off x="994193" y="3035360"/>
            <a:ext cx="818222" cy="251738"/>
          </a:xfrm>
          <a:prstGeom prst="roundRect">
            <a:avLst>
              <a:gd name="adj" fmla="val 50000"/>
            </a:avLst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8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Segoe UI" panose="020B0502040204020203" pitchFamily="34" charset="0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5E94E669-F18F-4449-945B-2DDDEB25F006}"/>
              </a:ext>
            </a:extLst>
          </p:cNvPr>
          <p:cNvSpPr/>
          <p:nvPr/>
        </p:nvSpPr>
        <p:spPr>
          <a:xfrm>
            <a:off x="853296" y="4624233"/>
            <a:ext cx="2159205" cy="185216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850" dirty="0">
              <a:solidFill>
                <a:srgbClr val="0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1B2D425-2EC0-48A7-A46E-F10B5A03828C}"/>
              </a:ext>
            </a:extLst>
          </p:cNvPr>
          <p:cNvSpPr txBox="1"/>
          <p:nvPr/>
        </p:nvSpPr>
        <p:spPr>
          <a:xfrm>
            <a:off x="853296" y="4609394"/>
            <a:ext cx="213942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dirty="0">
                <a:solidFill>
                  <a:schemeClr val="bg1"/>
                </a:solidFill>
              </a:rPr>
              <a:t>당신의 성공적인 </a:t>
            </a:r>
            <a:r>
              <a:rPr lang="en-US" altLang="ko-KR" sz="700" dirty="0">
                <a:solidFill>
                  <a:schemeClr val="bg1"/>
                </a:solidFill>
              </a:rPr>
              <a:t>IT </a:t>
            </a:r>
            <a:r>
              <a:rPr lang="ko-KR" altLang="en-US" sz="700" dirty="0" err="1">
                <a:solidFill>
                  <a:schemeClr val="bg1"/>
                </a:solidFill>
              </a:rPr>
              <a:t>아웃소싱을</a:t>
            </a:r>
            <a:r>
              <a:rPr lang="ko-KR" altLang="en-US" sz="700" dirty="0">
                <a:solidFill>
                  <a:schemeClr val="bg1"/>
                </a:solidFill>
              </a:rPr>
              <a:t> 응원합니다</a:t>
            </a:r>
            <a:r>
              <a:rPr lang="en-US" altLang="ko-KR" sz="700" dirty="0">
                <a:solidFill>
                  <a:schemeClr val="bg1"/>
                </a:solidFill>
              </a:rPr>
              <a:t>.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C8EC2F8-DF07-42DF-AF2E-43B8D15D8626}"/>
              </a:ext>
            </a:extLst>
          </p:cNvPr>
          <p:cNvSpPr txBox="1"/>
          <p:nvPr/>
        </p:nvSpPr>
        <p:spPr>
          <a:xfrm>
            <a:off x="1118611" y="3053507"/>
            <a:ext cx="56938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바로가기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5" name="모서리가 둥근 직사각형 39">
            <a:extLst>
              <a:ext uri="{FF2B5EF4-FFF2-40B4-BE49-F238E27FC236}">
                <a16:creationId xmlns:a16="http://schemas.microsoft.com/office/drawing/2014/main" id="{35F139CB-DEA2-4DB6-ACA5-E6905F0AFBFC}"/>
              </a:ext>
            </a:extLst>
          </p:cNvPr>
          <p:cNvSpPr/>
          <p:nvPr/>
        </p:nvSpPr>
        <p:spPr>
          <a:xfrm>
            <a:off x="2066471" y="3035360"/>
            <a:ext cx="818222" cy="251738"/>
          </a:xfrm>
          <a:prstGeom prst="roundRect">
            <a:avLst>
              <a:gd name="adj" fmla="val 50000"/>
            </a:avLst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8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Segoe UI" panose="020B0502040204020203" pitchFamily="34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DDA3C38-6A1D-4E8E-80C6-280735DD89E6}"/>
              </a:ext>
            </a:extLst>
          </p:cNvPr>
          <p:cNvSpPr txBox="1"/>
          <p:nvPr/>
        </p:nvSpPr>
        <p:spPr>
          <a:xfrm>
            <a:off x="2190889" y="3053507"/>
            <a:ext cx="56938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바로가기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7" name="그림 86">
            <a:extLst>
              <a:ext uri="{FF2B5EF4-FFF2-40B4-BE49-F238E27FC236}">
                <a16:creationId xmlns:a16="http://schemas.microsoft.com/office/drawing/2014/main" id="{266CDD17-082A-4CD5-BA5C-38396C58B66C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988"/>
          <a:stretch/>
        </p:blipFill>
        <p:spPr>
          <a:xfrm>
            <a:off x="1083471" y="3568063"/>
            <a:ext cx="1700643" cy="1054612"/>
          </a:xfrm>
          <a:prstGeom prst="rect">
            <a:avLst/>
          </a:prstGeom>
        </p:spPr>
      </p:pic>
      <p:grpSp>
        <p:nvGrpSpPr>
          <p:cNvPr id="88" name="그룹 87">
            <a:extLst>
              <a:ext uri="{FF2B5EF4-FFF2-40B4-BE49-F238E27FC236}">
                <a16:creationId xmlns:a16="http://schemas.microsoft.com/office/drawing/2014/main" id="{DAC48BEF-E8F2-4A78-A767-BCEF95BCE393}"/>
              </a:ext>
            </a:extLst>
          </p:cNvPr>
          <p:cNvGrpSpPr/>
          <p:nvPr/>
        </p:nvGrpSpPr>
        <p:grpSpPr>
          <a:xfrm>
            <a:off x="844787" y="2940478"/>
            <a:ext cx="388720" cy="200055"/>
            <a:chOff x="4727047" y="5307508"/>
            <a:chExt cx="388720" cy="200055"/>
          </a:xfrm>
        </p:grpSpPr>
        <p:sp>
          <p:nvSpPr>
            <p:cNvPr id="89" name="타원 88">
              <a:extLst>
                <a:ext uri="{FF2B5EF4-FFF2-40B4-BE49-F238E27FC236}">
                  <a16:creationId xmlns:a16="http://schemas.microsoft.com/office/drawing/2014/main" id="{4F620F9C-5706-46BC-9266-5F5917766FB1}"/>
                </a:ext>
              </a:extLst>
            </p:cNvPr>
            <p:cNvSpPr/>
            <p:nvPr/>
          </p:nvSpPr>
          <p:spPr>
            <a:xfrm>
              <a:off x="4831407" y="5317535"/>
              <a:ext cx="180000" cy="18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50800">
                <a:srgbClr val="FF0000">
                  <a:alpha val="30000"/>
                </a:srgbClr>
              </a:glo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56616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13232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69848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426464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83080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139696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96312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852928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9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0" name="TextBox 27">
              <a:extLst>
                <a:ext uri="{FF2B5EF4-FFF2-40B4-BE49-F238E27FC236}">
                  <a16:creationId xmlns:a16="http://schemas.microsoft.com/office/drawing/2014/main" id="{81BA31C5-E6A1-490F-8175-4A37F1995404}"/>
                </a:ext>
              </a:extLst>
            </p:cNvPr>
            <p:cNvSpPr txBox="1"/>
            <p:nvPr/>
          </p:nvSpPr>
          <p:spPr>
            <a:xfrm>
              <a:off x="4727047" y="5307508"/>
              <a:ext cx="38872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6616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13232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69848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26464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83080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39696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96312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852928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endParaRPr lang="ko-KR" altLang="en-US" sz="7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3C0DE1C6-36D5-4EAF-B092-3E54F90BF7B5}"/>
              </a:ext>
            </a:extLst>
          </p:cNvPr>
          <p:cNvGrpSpPr/>
          <p:nvPr/>
        </p:nvGrpSpPr>
        <p:grpSpPr>
          <a:xfrm>
            <a:off x="1919433" y="2940478"/>
            <a:ext cx="388720" cy="200055"/>
            <a:chOff x="4727047" y="5307508"/>
            <a:chExt cx="388720" cy="200055"/>
          </a:xfrm>
        </p:grpSpPr>
        <p:sp>
          <p:nvSpPr>
            <p:cNvPr id="92" name="타원 91">
              <a:extLst>
                <a:ext uri="{FF2B5EF4-FFF2-40B4-BE49-F238E27FC236}">
                  <a16:creationId xmlns:a16="http://schemas.microsoft.com/office/drawing/2014/main" id="{C50D1D52-F443-43AA-B347-55CECB59CDE1}"/>
                </a:ext>
              </a:extLst>
            </p:cNvPr>
            <p:cNvSpPr/>
            <p:nvPr/>
          </p:nvSpPr>
          <p:spPr>
            <a:xfrm>
              <a:off x="4831407" y="5317535"/>
              <a:ext cx="180000" cy="18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50800">
                <a:srgbClr val="FF0000">
                  <a:alpha val="30000"/>
                </a:srgbClr>
              </a:glo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56616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13232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69848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426464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83080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139696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96312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852928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9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3" name="TextBox 27">
              <a:extLst>
                <a:ext uri="{FF2B5EF4-FFF2-40B4-BE49-F238E27FC236}">
                  <a16:creationId xmlns:a16="http://schemas.microsoft.com/office/drawing/2014/main" id="{698B4786-ABEA-42D0-A48C-8C48A92A8CC4}"/>
                </a:ext>
              </a:extLst>
            </p:cNvPr>
            <p:cNvSpPr txBox="1"/>
            <p:nvPr/>
          </p:nvSpPr>
          <p:spPr>
            <a:xfrm>
              <a:off x="4727047" y="5307508"/>
              <a:ext cx="38872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6616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13232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69848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26464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83080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39696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96312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852928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endParaRPr lang="ko-KR" altLang="en-US" sz="7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94" name="Placeholder" descr="&lt;SmartSettings&gt;&lt;SmartResize enabled=&quot;True&quot; minWidth=&quot;0&quot; minHeight=&quot;0&quot; /&gt;&lt;/SmartSettings&gt;">
            <a:extLst>
              <a:ext uri="{FF2B5EF4-FFF2-40B4-BE49-F238E27FC236}">
                <a16:creationId xmlns:a16="http://schemas.microsoft.com/office/drawing/2014/main" id="{497C2CAF-2493-4CB5-BF81-547697439007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267014" y="1231936"/>
            <a:ext cx="1359836" cy="329108"/>
            <a:chOff x="3864744" y="2328044"/>
            <a:chExt cx="1008112" cy="1008112"/>
          </a:xfrm>
          <a:solidFill>
            <a:srgbClr val="FFFFFF"/>
          </a:solidFill>
        </p:grpSpPr>
        <p:grpSp>
          <p:nvGrpSpPr>
            <p:cNvPr id="95" name="Placeholder">
              <a:extLst>
                <a:ext uri="{FF2B5EF4-FFF2-40B4-BE49-F238E27FC236}">
                  <a16:creationId xmlns:a16="http://schemas.microsoft.com/office/drawing/2014/main" id="{34C25DA5-0D13-407A-9F60-C64D718CD3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64744" y="2328044"/>
              <a:ext cx="1008112" cy="1008112"/>
              <a:chOff x="508000" y="1397000"/>
              <a:chExt cx="1008112" cy="1008112"/>
            </a:xfrm>
            <a:grpFill/>
          </p:grpSpPr>
          <p:sp>
            <p:nvSpPr>
              <p:cNvPr id="97" name="Border">
                <a:extLst>
                  <a:ext uri="{FF2B5EF4-FFF2-40B4-BE49-F238E27FC236}">
                    <a16:creationId xmlns:a16="http://schemas.microsoft.com/office/drawing/2014/main" id="{947ABEC9-B148-464E-9328-5AC8EAC45B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prstGeom prst="rect">
                <a:avLst/>
              </a:prstGeom>
              <a:grpFill/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98" name="Line 2">
                <a:extLst>
                  <a:ext uri="{FF2B5EF4-FFF2-40B4-BE49-F238E27FC236}">
                    <a16:creationId xmlns:a16="http://schemas.microsoft.com/office/drawing/2014/main" id="{87F9FF62-D0A8-4F20-AD9A-5A90608657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custGeom>
                <a:avLst/>
                <a:gdLst>
                  <a:gd name="connsiteX0" fmla="*/ 0 w 1008112"/>
                  <a:gd name="connsiteY0" fmla="*/ 1008112 h 1008112"/>
                  <a:gd name="connsiteX1" fmla="*/ 1008112 w 1008112"/>
                  <a:gd name="connsiteY1" fmla="*/ 0 h 100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8112" h="1008112">
                    <a:moveTo>
                      <a:pt x="0" y="1008112"/>
                    </a:moveTo>
                    <a:lnTo>
                      <a:pt x="1008112" y="0"/>
                    </a:lnTo>
                  </a:path>
                </a:pathLst>
              </a:custGeom>
              <a:grpFill/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99" name="Line 1">
                <a:extLst>
                  <a:ext uri="{FF2B5EF4-FFF2-40B4-BE49-F238E27FC236}">
                    <a16:creationId xmlns:a16="http://schemas.microsoft.com/office/drawing/2014/main" id="{C50C0B86-4C61-4E09-AF85-9F6D4C6C7B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custGeom>
                <a:avLst/>
                <a:gdLst>
                  <a:gd name="connsiteX0" fmla="*/ 1008112 w 1008112"/>
                  <a:gd name="connsiteY0" fmla="*/ 1008112 h 1008112"/>
                  <a:gd name="connsiteX1" fmla="*/ 0 w 1008112"/>
                  <a:gd name="connsiteY1" fmla="*/ 0 h 100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8112" h="1008112">
                    <a:moveTo>
                      <a:pt x="1008112" y="1008112"/>
                    </a:moveTo>
                    <a:lnTo>
                      <a:pt x="0" y="0"/>
                    </a:lnTo>
                  </a:path>
                </a:pathLst>
              </a:custGeom>
              <a:grpFill/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96" name="Label" descr="&lt;SmartSettings&gt;&lt;SmartResize anchorLeft=&quot;Relative&quot; anchorTop=&quot;None&quot; anchorRight=&quot;Relative&quot; anchorBottom=&quot;None&quot; /&gt;&lt;/SmartSettings&gt;">
              <a:extLst>
                <a:ext uri="{FF2B5EF4-FFF2-40B4-BE49-F238E27FC236}">
                  <a16:creationId xmlns:a16="http://schemas.microsoft.com/office/drawing/2014/main" id="{26545CD3-0C36-4680-928A-BCDCCA32EB73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4090625" y="2506844"/>
              <a:ext cx="556354" cy="650512"/>
            </a:xfrm>
            <a:prstGeom prst="rect">
              <a:avLst/>
            </a:prstGeom>
            <a:grp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Logo image</a:t>
              </a:r>
            </a:p>
          </p:txBody>
        </p:sp>
      </p:grp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808A9BE6-31E1-4BC3-907E-F0F3E67FF122}"/>
              </a:ext>
            </a:extLst>
          </p:cNvPr>
          <p:cNvGrpSpPr/>
          <p:nvPr/>
        </p:nvGrpSpPr>
        <p:grpSpPr>
          <a:xfrm>
            <a:off x="924251" y="3525805"/>
            <a:ext cx="388720" cy="200055"/>
            <a:chOff x="4727047" y="5307508"/>
            <a:chExt cx="388720" cy="200055"/>
          </a:xfrm>
        </p:grpSpPr>
        <p:sp>
          <p:nvSpPr>
            <p:cNvPr id="101" name="타원 100">
              <a:extLst>
                <a:ext uri="{FF2B5EF4-FFF2-40B4-BE49-F238E27FC236}">
                  <a16:creationId xmlns:a16="http://schemas.microsoft.com/office/drawing/2014/main" id="{0A38F7D7-9FF0-4557-9E69-5F8AD4241A93}"/>
                </a:ext>
              </a:extLst>
            </p:cNvPr>
            <p:cNvSpPr/>
            <p:nvPr/>
          </p:nvSpPr>
          <p:spPr>
            <a:xfrm>
              <a:off x="4831407" y="5317535"/>
              <a:ext cx="180000" cy="18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50800">
                <a:srgbClr val="FF0000">
                  <a:alpha val="30000"/>
                </a:srgbClr>
              </a:glo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56616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13232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69848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426464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83080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139696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96312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852928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9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2" name="TextBox 27">
              <a:extLst>
                <a:ext uri="{FF2B5EF4-FFF2-40B4-BE49-F238E27FC236}">
                  <a16:creationId xmlns:a16="http://schemas.microsoft.com/office/drawing/2014/main" id="{9BA99754-36E1-411A-950A-CAABE565FDFB}"/>
                </a:ext>
              </a:extLst>
            </p:cNvPr>
            <p:cNvSpPr txBox="1"/>
            <p:nvPr/>
          </p:nvSpPr>
          <p:spPr>
            <a:xfrm>
              <a:off x="4727047" y="5307508"/>
              <a:ext cx="38872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6616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13232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69848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26464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83080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39696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96312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852928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endParaRPr lang="ko-KR" altLang="en-US" sz="7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103" name="사각형: 둥근 모서리 102">
            <a:extLst>
              <a:ext uri="{FF2B5EF4-FFF2-40B4-BE49-F238E27FC236}">
                <a16:creationId xmlns:a16="http://schemas.microsoft.com/office/drawing/2014/main" id="{6C1FD548-8D64-4D7E-B72C-C0B51F2EDA9D}"/>
              </a:ext>
            </a:extLst>
          </p:cNvPr>
          <p:cNvSpPr/>
          <p:nvPr/>
        </p:nvSpPr>
        <p:spPr>
          <a:xfrm>
            <a:off x="3962965" y="1705519"/>
            <a:ext cx="2349484" cy="368634"/>
          </a:xfrm>
          <a:prstGeom prst="roundRect">
            <a:avLst>
              <a:gd name="adj" fmla="val 50000"/>
            </a:avLst>
          </a:prstGeom>
          <a:solidFill>
            <a:srgbClr val="FFFFE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5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기획서 토대로 나온 디자인</a:t>
            </a:r>
            <a:r>
              <a:rPr lang="en-US" altLang="ko-KR" sz="85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ko-KR" altLang="en-US" sz="85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개발 산출물</a:t>
            </a:r>
          </a:p>
        </p:txBody>
      </p: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ACB4A5E4-701B-4783-BCB3-212901B9167D}"/>
              </a:ext>
            </a:extLst>
          </p:cNvPr>
          <p:cNvCxnSpPr/>
          <p:nvPr/>
        </p:nvCxnSpPr>
        <p:spPr>
          <a:xfrm>
            <a:off x="3360013" y="1893562"/>
            <a:ext cx="360040" cy="0"/>
          </a:xfrm>
          <a:prstGeom prst="straightConnector1">
            <a:avLst/>
          </a:prstGeom>
          <a:ln w="12700">
            <a:solidFill>
              <a:srgbClr val="FF0000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8" name="표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4010557"/>
              </p:ext>
            </p:extLst>
          </p:nvPr>
        </p:nvGraphicFramePr>
        <p:xfrm>
          <a:off x="6979021" y="0"/>
          <a:ext cx="2164979" cy="27070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3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3204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6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DEVELOP</a:t>
                      </a:r>
                      <a:r>
                        <a:rPr lang="en-US" altLang="ko-KR" sz="600" b="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Description</a:t>
                      </a:r>
                      <a:endParaRPr lang="ko-KR" altLang="en-US" sz="6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7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7A1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7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7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Clr>
                          <a:srgbClr val="FF0000"/>
                        </a:buClr>
                        <a:buFont typeface="+mj-ea"/>
                        <a:buNone/>
                      </a:pPr>
                      <a:r>
                        <a:rPr lang="ko-KR" altLang="en-US" sz="7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Wingdings" panose="05000000000000000000" pitchFamily="2" charset="2"/>
                        </a:rPr>
                        <a:t>모바일</a:t>
                      </a: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Wingdings" panose="05000000000000000000" pitchFamily="2" charset="2"/>
                        </a:rPr>
                        <a:t> 웹 랜딩 페이지</a:t>
                      </a:r>
                      <a:endParaRPr lang="en-US" altLang="ko-KR" sz="7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Wingdings" panose="05000000000000000000" pitchFamily="2" charset="2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Clr>
                          <a:srgbClr val="FF0000"/>
                        </a:buClr>
                        <a:buFont typeface="+mj-ea"/>
                        <a:buNone/>
                      </a:pP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Wingdings" panose="05000000000000000000" pitchFamily="2" charset="2"/>
                        </a:rPr>
                        <a:t>최초접속 또는 비 로그인 상태에서 </a:t>
                      </a:r>
                      <a:r>
                        <a:rPr lang="en-US" altLang="ko-KR" sz="7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ko-KR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Wingdings" panose="05000000000000000000" pitchFamily="2" charset="2"/>
                        </a:rPr>
                        <a:t>m.freemoa.net </a:t>
                      </a: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Wingdings" panose="05000000000000000000" pitchFamily="2" charset="2"/>
                        </a:rPr>
                        <a:t>접속 시 페이지 노출</a:t>
                      </a:r>
                      <a:endParaRPr lang="en-US" altLang="ko-KR" sz="7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Wingdings" panose="05000000000000000000" pitchFamily="2" charset="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7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endParaRPr lang="ko-KR" altLang="en-US" sz="7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클라이언트 페이지 이동 버튼</a:t>
                      </a:r>
                      <a:r>
                        <a:rPr lang="en-US" altLang="ko-KR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전체영역</a:t>
                      </a:r>
                      <a:r>
                        <a:rPr lang="en-US" altLang="ko-KR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m.freemoa.net/</a:t>
                      </a:r>
                      <a:r>
                        <a:rPr lang="en-US" altLang="ko-KR" sz="7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cmain</a:t>
                      </a:r>
                      <a:endParaRPr lang="ko-KR" altLang="en-US" sz="7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7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endParaRPr lang="ko-KR" altLang="en-US" sz="7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프리랜서 페이지 이동 버튼</a:t>
                      </a:r>
                      <a:r>
                        <a:rPr lang="en-US" altLang="ko-KR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전체영역</a:t>
                      </a:r>
                      <a:r>
                        <a:rPr lang="en-US" altLang="ko-KR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m.freemoa.net/</a:t>
                      </a:r>
                      <a:r>
                        <a:rPr lang="en-US" altLang="ko-KR" sz="7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fmain</a:t>
                      </a:r>
                      <a:endParaRPr lang="ko-KR" altLang="en-US" sz="7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7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endParaRPr lang="ko-KR" altLang="en-US" sz="7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Wingdings" panose="05000000000000000000" pitchFamily="2" charset="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7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endParaRPr lang="ko-KR" altLang="en-US" sz="7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Wingdings" panose="05000000000000000000" pitchFamily="2" charset="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7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</a:t>
                      </a:r>
                      <a:endParaRPr lang="ko-KR" altLang="en-US" sz="7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Wingdings" panose="05000000000000000000" pitchFamily="2" charset="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60" name="표 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0214455"/>
              </p:ext>
            </p:extLst>
          </p:nvPr>
        </p:nvGraphicFramePr>
        <p:xfrm>
          <a:off x="6979021" y="2857500"/>
          <a:ext cx="2164979" cy="270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3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854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6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DESIGN</a:t>
                      </a:r>
                      <a:r>
                        <a:rPr lang="en-US" altLang="ko-KR" sz="600" b="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Description</a:t>
                      </a:r>
                      <a:endParaRPr lang="ko-KR" altLang="en-US" sz="6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3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7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7A1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878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7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7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ko-KR" altLang="en-US" sz="7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Wingdings" panose="05000000000000000000" pitchFamily="2" charset="2"/>
                        </a:rPr>
                        <a:t>프리모아</a:t>
                      </a: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Wingdings" panose="05000000000000000000" pitchFamily="2" charset="2"/>
                        </a:rPr>
                        <a:t> 로고 포함 디자인</a:t>
                      </a:r>
                      <a:r>
                        <a:rPr lang="en-US" altLang="ko-KR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Wingdings" panose="05000000000000000000" pitchFamily="2" charset="2"/>
                        </a:rPr>
                        <a:t>.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Wingdings" panose="05000000000000000000" pitchFamily="2" charset="2"/>
                        </a:rPr>
                        <a:t>메인 랜딩이기 때문에 간결하고 컬러는 로고 내 컬러와 통일감을 주되 신뢰감 있는 컬러 위주로 사용</a:t>
                      </a:r>
                      <a:r>
                        <a:rPr lang="en-US" altLang="ko-KR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7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Wingdings" panose="05000000000000000000" pitchFamily="2" charset="2"/>
                        </a:rPr>
                        <a:t>가독성</a:t>
                      </a: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Wingdings" panose="05000000000000000000" pitchFamily="2" charset="2"/>
                        </a:rPr>
                        <a:t> 중요</a:t>
                      </a:r>
                      <a:r>
                        <a:rPr lang="en-US" altLang="ko-KR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Wingdings" panose="05000000000000000000" pitchFamily="2" charset="2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7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2, 3</a:t>
                      </a:r>
                      <a:endParaRPr lang="ko-KR" altLang="en-US" sz="7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Clr>
                          <a:srgbClr val="FF0000"/>
                        </a:buClr>
                        <a:buFont typeface="+mj-ea"/>
                        <a:buNone/>
                      </a:pP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Wingdings" panose="05000000000000000000" pitchFamily="2" charset="2"/>
                        </a:rPr>
                        <a:t>명확히 구분되는 버튼 컬러 사용</a:t>
                      </a:r>
                      <a:endParaRPr lang="en-US" altLang="ko-KR" sz="7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Wingdings" panose="05000000000000000000" pitchFamily="2" charset="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7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endParaRPr lang="ko-KR" altLang="en-US" sz="7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Wingdings" panose="05000000000000000000" pitchFamily="2" charset="2"/>
                        </a:rPr>
                        <a:t>일러스트로 이미지 삽입</a:t>
                      </a:r>
                      <a:endParaRPr lang="en-US" altLang="ko-KR" sz="7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Wingdings" panose="05000000000000000000" pitchFamily="2" charset="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7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endParaRPr lang="ko-KR" altLang="en-US" sz="7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Wingdings" panose="05000000000000000000" pitchFamily="2" charset="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6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7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</a:t>
                      </a:r>
                      <a:endParaRPr lang="ko-KR" altLang="en-US" sz="7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Wingdings" panose="05000000000000000000" pitchFamily="2" charset="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7" name="TextBox 106">
            <a:extLst>
              <a:ext uri="{FF2B5EF4-FFF2-40B4-BE49-F238E27FC236}">
                <a16:creationId xmlns:a16="http://schemas.microsoft.com/office/drawing/2014/main" id="{1771AE34-32B3-4928-81B3-B37FCA5AC037}"/>
              </a:ext>
            </a:extLst>
          </p:cNvPr>
          <p:cNvSpPr txBox="1"/>
          <p:nvPr/>
        </p:nvSpPr>
        <p:spPr>
          <a:xfrm>
            <a:off x="264479" y="4548857"/>
            <a:ext cx="15265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스토리보드</a:t>
            </a:r>
            <a:endParaRPr lang="en-US" altLang="ko-KR" sz="14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8FE455D5-A6E9-4A02-A74E-9AC5F2F4A5EF}"/>
              </a:ext>
            </a:extLst>
          </p:cNvPr>
          <p:cNvSpPr/>
          <p:nvPr/>
        </p:nvSpPr>
        <p:spPr>
          <a:xfrm>
            <a:off x="1605666" y="4563218"/>
            <a:ext cx="6834472" cy="255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 </a:t>
            </a:r>
            <a:r>
              <a:rPr lang="ko-KR" altLang="en-US" sz="800" dirty="0" err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모바일웹</a:t>
            </a:r>
            <a:r>
              <a:rPr lang="en-US" altLang="ko-KR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앱 기획</a:t>
            </a:r>
            <a:r>
              <a:rPr lang="en-US" altLang="ko-KR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|   </a:t>
            </a:r>
            <a:r>
              <a:rPr lang="ko-KR" altLang="en-US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스토리보드는 </a:t>
            </a:r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UI(User Interface)</a:t>
            </a:r>
            <a:r>
              <a:rPr lang="ko-KR" altLang="en-US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라고 불리우는 서비스의 화면을 설계하고 실제 작업자에게 작업할 사항을 전달하는 문서입니다</a:t>
            </a:r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4731DA8E-52C6-46CD-A0AC-54D60BC5B572}"/>
              </a:ext>
            </a:extLst>
          </p:cNvPr>
          <p:cNvSpPr/>
          <p:nvPr/>
        </p:nvSpPr>
        <p:spPr>
          <a:xfrm>
            <a:off x="257370" y="4867392"/>
            <a:ext cx="8563102" cy="5582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 또한 지정된 양식은 없으나</a:t>
            </a:r>
            <a:r>
              <a:rPr lang="en-US" altLang="ko-KR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화면을 설계하고 각 요소에 번호</a:t>
            </a:r>
            <a:r>
              <a:rPr lang="en-US" altLang="ko-KR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(1, 2, 3)</a:t>
            </a:r>
            <a:r>
              <a:rPr lang="ko-KR" altLang="en-US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 표기 후 우측의 </a:t>
            </a:r>
            <a:r>
              <a:rPr lang="en-US" altLang="ko-KR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Description</a:t>
            </a:r>
            <a:r>
              <a:rPr lang="ko-KR" altLang="en-US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영역에 내용을 작성합니다</a:t>
            </a:r>
            <a:r>
              <a:rPr lang="en-US" altLang="ko-KR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설명을 상세히 작성하되</a:t>
            </a:r>
            <a:r>
              <a:rPr lang="en-US" altLang="ko-KR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디자인 보다는 구성요소와 기능에 집중하여 작성합니다</a:t>
            </a:r>
            <a:r>
              <a:rPr lang="en-US" altLang="ko-KR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Description</a:t>
            </a:r>
            <a:r>
              <a:rPr lang="ko-KR" altLang="en-US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영역은 개발</a:t>
            </a:r>
            <a:r>
              <a:rPr lang="en-US" altLang="ko-KR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디자인을 구분 할 수 있고</a:t>
            </a:r>
            <a:r>
              <a:rPr lang="en-US" altLang="ko-KR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구분 없이 하나로 작성하기도 합니다</a:t>
            </a:r>
            <a:r>
              <a:rPr lang="en-US" altLang="ko-KR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7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예시는 스토리보드와 스토리보드를 토대로 실제 디자인 개발된 </a:t>
            </a:r>
            <a:r>
              <a:rPr lang="ko-KR" altLang="en-US" sz="700" b="1" dirty="0" err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프리모아</a:t>
            </a:r>
            <a:r>
              <a:rPr lang="ko-KR" altLang="en-US" sz="7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모바일 웹 페이지입니다</a:t>
            </a:r>
            <a:r>
              <a:rPr lang="en-US" altLang="ko-KR" sz="7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7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sz="7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10" name="그래픽 109">
            <a:extLst>
              <a:ext uri="{FF2B5EF4-FFF2-40B4-BE49-F238E27FC236}">
                <a16:creationId xmlns:a16="http://schemas.microsoft.com/office/drawing/2014/main" id="{63D2007D-8014-4A1D-A365-0EB97054D64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91670" y="4625863"/>
            <a:ext cx="226966" cy="172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910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" name="표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3626419"/>
              </p:ext>
            </p:extLst>
          </p:nvPr>
        </p:nvGraphicFramePr>
        <p:xfrm>
          <a:off x="6979021" y="0"/>
          <a:ext cx="2164979" cy="4790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3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3204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6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DEVELOP</a:t>
                      </a:r>
                      <a:r>
                        <a:rPr lang="en-US" altLang="ko-KR" sz="600" b="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Description</a:t>
                      </a:r>
                      <a:endParaRPr lang="ko-KR" altLang="en-US" sz="6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7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7A1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38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7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7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700" b="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기본정보 페이지를 프로젝트 리스트 디폴트로 노출</a:t>
                      </a:r>
                      <a:endParaRPr lang="en-US" altLang="ko-KR" sz="700" b="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38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7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endParaRPr lang="ko-KR" altLang="en-US" sz="7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검색</a:t>
                      </a:r>
                      <a:r>
                        <a:rPr lang="en-US" altLang="ko-KR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필터</a:t>
                      </a:r>
                      <a:r>
                        <a:rPr lang="en-US" altLang="ko-KR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7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소팅</a:t>
                      </a: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바</a:t>
                      </a:r>
                      <a:endParaRPr lang="en-US" altLang="ko-KR" sz="7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필터에 따라 </a:t>
                      </a:r>
                      <a:r>
                        <a:rPr lang="ko-KR" altLang="en-US" sz="7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소팅이</a:t>
                      </a: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구분됨</a:t>
                      </a:r>
                      <a:r>
                        <a:rPr lang="en-US" altLang="ko-KR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7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82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7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endParaRPr lang="ko-KR" altLang="en-US" sz="7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구성요소 </a:t>
                      </a:r>
                      <a:r>
                        <a:rPr lang="en-US" altLang="ko-KR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7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즐겨찾기</a:t>
                      </a: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☆표시는 비회원</a:t>
                      </a:r>
                      <a:r>
                        <a:rPr lang="en-US" altLang="ko-KR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파트너 회원에만 노출</a:t>
                      </a:r>
                      <a:r>
                        <a:rPr lang="en-US" altLang="ko-KR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클라이언트 노출하지 않음</a:t>
                      </a:r>
                      <a:r>
                        <a:rPr lang="en-US" altLang="ko-KR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제목 </a:t>
                      </a:r>
                      <a:r>
                        <a:rPr lang="en-US" altLang="ko-KR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| </a:t>
                      </a: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등록일자</a:t>
                      </a:r>
                      <a:r>
                        <a:rPr lang="en-US" altLang="ko-KR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7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모집중</a:t>
                      </a:r>
                      <a:r>
                        <a:rPr lang="en-US" altLang="ko-KR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상주여부</a:t>
                      </a:r>
                      <a:r>
                        <a:rPr lang="en-US" altLang="ko-KR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신규여부 체크 마크</a:t>
                      </a:r>
                      <a:endParaRPr lang="en-US" altLang="ko-KR" sz="7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989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7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endParaRPr lang="ko-KR" altLang="en-US" sz="7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구성요소</a:t>
                      </a:r>
                      <a:endParaRPr lang="en-US" altLang="ko-KR" sz="7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7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예산 만원단위로 작성</a:t>
                      </a:r>
                      <a:endParaRPr lang="en-US" altLang="ko-KR" sz="70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7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기간 </a:t>
                      </a:r>
                      <a:r>
                        <a:rPr lang="ko-KR" altLang="en-US" sz="700" baseline="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일단위</a:t>
                      </a:r>
                      <a:r>
                        <a:rPr lang="ko-KR" altLang="en-US" sz="7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노출</a:t>
                      </a:r>
                      <a:endParaRPr lang="en-US" altLang="ko-KR" sz="70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7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마감 </a:t>
                      </a:r>
                      <a:r>
                        <a:rPr lang="en-US" altLang="ko-KR" sz="7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D-</a:t>
                      </a:r>
                      <a:r>
                        <a:rPr lang="ko-KR" altLang="en-US" sz="7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로 표기하되 마감 당일의 경우 </a:t>
                      </a:r>
                      <a:r>
                        <a:rPr lang="en-US" altLang="ko-KR" sz="7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HH</a:t>
                      </a:r>
                      <a:r>
                        <a:rPr lang="ko-KR" altLang="en-US" sz="7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시간 </a:t>
                      </a:r>
                      <a:r>
                        <a:rPr lang="en-US" altLang="ko-KR" sz="7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MM</a:t>
                      </a:r>
                      <a:r>
                        <a:rPr lang="ko-KR" altLang="en-US" sz="7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분 으로 표기하며 마감 후에는 마감 표기함</a:t>
                      </a:r>
                      <a:endParaRPr lang="en-US" altLang="ko-KR" sz="70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7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지원자 수가 </a:t>
                      </a:r>
                      <a:r>
                        <a:rPr lang="en-US" altLang="ko-KR" sz="7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99</a:t>
                      </a:r>
                      <a:r>
                        <a:rPr lang="ko-KR" altLang="en-US" sz="7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 넘는 경우 </a:t>
                      </a:r>
                      <a:r>
                        <a:rPr lang="en-US" altLang="ko-KR" sz="7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99+</a:t>
                      </a:r>
                      <a:r>
                        <a:rPr lang="ko-KR" altLang="en-US" sz="7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로 표기</a:t>
                      </a:r>
                      <a:endParaRPr lang="en-US" altLang="ko-KR" sz="70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7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기획단계 </a:t>
                      </a:r>
                      <a:r>
                        <a:rPr lang="en-US" altLang="ko-KR" sz="7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r>
                        <a:rPr lang="ko-KR" altLang="en-US" sz="7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단계 노출 </a:t>
                      </a:r>
                      <a:r>
                        <a:rPr lang="en-US" altLang="ko-KR" sz="7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7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아이디어단계</a:t>
                      </a:r>
                      <a:r>
                        <a:rPr lang="en-US" altLang="ko-KR" sz="7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7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기능정의서 작성</a:t>
                      </a:r>
                      <a:r>
                        <a:rPr lang="en-US" altLang="ko-KR" sz="7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7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기획서 </a:t>
                      </a:r>
                      <a:r>
                        <a:rPr lang="ko-KR" altLang="en-US" sz="700" baseline="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작성중</a:t>
                      </a:r>
                      <a:r>
                        <a:rPr lang="en-US" altLang="ko-KR" sz="7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7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상세기획서 작성</a:t>
                      </a:r>
                      <a:endParaRPr lang="en-US" altLang="ko-KR" sz="7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263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7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endParaRPr lang="ko-KR" altLang="en-US" sz="7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구성요소</a:t>
                      </a:r>
                      <a:endParaRPr lang="en-US" altLang="ko-KR" sz="7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프로젝트 분야 </a:t>
                      </a:r>
                      <a:r>
                        <a:rPr lang="en-US" altLang="ko-KR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차 </a:t>
                      </a:r>
                      <a:r>
                        <a:rPr lang="en-US" altLang="ko-KR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+ </a:t>
                      </a: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하위분야 </a:t>
                      </a:r>
                      <a:r>
                        <a:rPr lang="en-US" altLang="ko-KR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| </a:t>
                      </a: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필요기술</a:t>
                      </a:r>
                      <a:endParaRPr lang="en-US" altLang="ko-KR" sz="7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프로젝트 상세내용 </a:t>
                      </a:r>
                      <a:r>
                        <a:rPr lang="en-US" altLang="ko-KR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줄까지 노출 </a:t>
                      </a:r>
                      <a:r>
                        <a:rPr lang="en-US" altLang="ko-KR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+ </a:t>
                      </a:r>
                      <a:r>
                        <a:rPr lang="ko-KR" altLang="en-US" sz="7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말줄임</a:t>
                      </a: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표기</a:t>
                      </a:r>
                      <a:endParaRPr lang="en-US" altLang="ko-KR" sz="7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클라이언트 </a:t>
                      </a:r>
                      <a:r>
                        <a:rPr lang="en-US" altLang="ko-KR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ID,</a:t>
                      </a:r>
                      <a:r>
                        <a:rPr lang="en-US" altLang="ko-KR" sz="7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7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프로필이미지</a:t>
                      </a:r>
                      <a:r>
                        <a:rPr lang="en-US" altLang="ko-KR" sz="7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7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회사소개 작성</a:t>
                      </a:r>
                      <a:endParaRPr lang="en-US" altLang="ko-KR" sz="7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356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7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</a:t>
                      </a:r>
                      <a:endParaRPr lang="ko-KR" altLang="en-US" sz="7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리스트는 </a:t>
                      </a:r>
                      <a:r>
                        <a:rPr lang="en-US" altLang="ko-KR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개까지 노출 후 </a:t>
                      </a:r>
                      <a:r>
                        <a:rPr lang="ko-KR" altLang="en-US" sz="7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페이징</a:t>
                      </a: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처리</a:t>
                      </a:r>
                      <a:endParaRPr lang="en-US" altLang="ko-KR" sz="7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58" name="그림 57">
            <a:extLst>
              <a:ext uri="{FF2B5EF4-FFF2-40B4-BE49-F238E27FC236}">
                <a16:creationId xmlns:a16="http://schemas.microsoft.com/office/drawing/2014/main" id="{CE89E14B-E870-4DB4-8CF0-F21D7A38B5F0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86" t="7518" r="20078" b="42250"/>
          <a:stretch/>
        </p:blipFill>
        <p:spPr>
          <a:xfrm>
            <a:off x="107504" y="382987"/>
            <a:ext cx="6669283" cy="5130914"/>
          </a:xfrm>
          <a:prstGeom prst="rect">
            <a:avLst/>
          </a:prstGeom>
        </p:spPr>
      </p:pic>
      <p:grpSp>
        <p:nvGrpSpPr>
          <p:cNvPr id="59" name="Window" descr="&lt;SmartSettings&gt;&lt;SmartResize enabled=&quot;True&quot; minWidth=&quot;0&quot; minHeight=&quot;0&quot; /&gt;&lt;/SmartSettings&gt;">
            <a:extLst>
              <a:ext uri="{FF2B5EF4-FFF2-40B4-BE49-F238E27FC236}">
                <a16:creationId xmlns:a16="http://schemas.microsoft.com/office/drawing/2014/main" id="{17A3767D-4FFE-499D-865D-A0D53FB00562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07504" y="265212"/>
            <a:ext cx="6780333" cy="5248689"/>
            <a:chOff x="660249" y="1104551"/>
            <a:chExt cx="6453531" cy="4963332"/>
          </a:xfrm>
        </p:grpSpPr>
        <p:grpSp>
          <p:nvGrpSpPr>
            <p:cNvPr id="60" name="Title Bar">
              <a:extLst>
                <a:ext uri="{FF2B5EF4-FFF2-40B4-BE49-F238E27FC236}">
                  <a16:creationId xmlns:a16="http://schemas.microsoft.com/office/drawing/2014/main" id="{0E65BE8F-3D25-4605-A7BB-A108DA76A9E1}"/>
                </a:ext>
              </a:extLst>
            </p:cNvPr>
            <p:cNvGrpSpPr/>
            <p:nvPr userDrawn="1"/>
          </p:nvGrpSpPr>
          <p:grpSpPr>
            <a:xfrm>
              <a:off x="660249" y="1104551"/>
              <a:ext cx="6453530" cy="216330"/>
              <a:chOff x="990598" y="1423196"/>
              <a:chExt cx="6401694" cy="26650"/>
            </a:xfrm>
            <a:solidFill>
              <a:srgbClr val="FFFFFF"/>
            </a:solidFill>
          </p:grpSpPr>
          <p:sp>
            <p:nvSpPr>
              <p:cNvPr id="62" name="Title Bar Background" descr="&lt;SmartSettings&gt;&lt;SmartResize anchorLeft=&quot;Absolute&quot; anchorTop=&quot;Absolute&quot; anchorRight=&quot;Absolute&quot; anchorBottom=&quot;None&quot; /&gt;&lt;/SmartSettings&gt;">
                <a:extLst>
                  <a:ext uri="{FF2B5EF4-FFF2-40B4-BE49-F238E27FC236}">
                    <a16:creationId xmlns:a16="http://schemas.microsoft.com/office/drawing/2014/main" id="{57F5F230-AEB8-41FE-92CB-A164696AAFCE}"/>
                  </a:ext>
                </a:extLst>
              </p:cNvPr>
              <p:cNvSpPr/>
              <p:nvPr userDrawn="1">
                <p:custDataLst>
                  <p:tags r:id="rId7"/>
                </p:custDataLst>
              </p:nvPr>
            </p:nvSpPr>
            <p:spPr>
              <a:xfrm>
                <a:off x="990598" y="1423196"/>
                <a:ext cx="6401694" cy="26650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54864"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680" dirty="0">
                    <a:solidFill>
                      <a:srgbClr val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  <a:cs typeface="Segoe UI" panose="020B0502040204020203" pitchFamily="34" charset="0"/>
                  </a:rPr>
                  <a:t>안전한 </a:t>
                </a:r>
                <a:r>
                  <a:rPr lang="en-US" altLang="ko-KR" sz="680" dirty="0">
                    <a:solidFill>
                      <a:srgbClr val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  <a:cs typeface="Segoe UI" panose="020B0502040204020203" pitchFamily="34" charset="0"/>
                  </a:rPr>
                  <a:t>IT </a:t>
                </a:r>
                <a:r>
                  <a:rPr lang="ko-KR" altLang="en-US" sz="680" dirty="0">
                    <a:solidFill>
                      <a:srgbClr val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  <a:cs typeface="Segoe UI" panose="020B0502040204020203" pitchFamily="34" charset="0"/>
                  </a:rPr>
                  <a:t>외주</a:t>
                </a:r>
                <a:r>
                  <a:rPr lang="en-US" altLang="ko-KR" sz="680" dirty="0">
                    <a:solidFill>
                      <a:srgbClr val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  <a:cs typeface="Segoe UI" panose="020B0502040204020203" pitchFamily="34" charset="0"/>
                  </a:rPr>
                  <a:t>:</a:t>
                </a:r>
                <a:r>
                  <a:rPr lang="ko-KR" altLang="en-US" sz="680" dirty="0" err="1">
                    <a:solidFill>
                      <a:srgbClr val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  <a:cs typeface="Segoe UI" panose="020B0502040204020203" pitchFamily="34" charset="0"/>
                  </a:rPr>
                  <a:t>아웃소싱</a:t>
                </a:r>
                <a:r>
                  <a:rPr lang="ko-KR" altLang="en-US" sz="680" dirty="0">
                    <a:solidFill>
                      <a:srgbClr val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  <a:cs typeface="Segoe UI" panose="020B0502040204020203" pitchFamily="34" charset="0"/>
                  </a:rPr>
                  <a:t> 플랫폼 </a:t>
                </a:r>
                <a:r>
                  <a:rPr lang="ko-KR" altLang="en-US" sz="680" dirty="0" err="1">
                    <a:solidFill>
                      <a:srgbClr val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  <a:cs typeface="Segoe UI" panose="020B0502040204020203" pitchFamily="34" charset="0"/>
                  </a:rPr>
                  <a:t>프리모아</a:t>
                </a:r>
                <a:endParaRPr lang="en-US" sz="680" dirty="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Segoe UI" panose="020B0502040204020203" pitchFamily="34" charset="0"/>
                </a:endParaRPr>
              </a:p>
            </p:txBody>
          </p:sp>
          <p:sp>
            <p:nvSpPr>
              <p:cNvPr id="63" name="Minimize" descr="&lt;SmartSettings&gt;&lt;SmartResize anchorLeft=&quot;None&quot; anchorTop=&quot;Absolute&quot; anchorRight=&quot;Absolute&quot; anchorBottom=&quot;None&quot; /&gt;&lt;/SmartSettings&gt;">
                <a:extLst>
                  <a:ext uri="{FF2B5EF4-FFF2-40B4-BE49-F238E27FC236}">
                    <a16:creationId xmlns:a16="http://schemas.microsoft.com/office/drawing/2014/main" id="{368CF59C-58B5-4CF8-A6CB-12F170516476}"/>
                  </a:ext>
                </a:extLst>
              </p:cNvPr>
              <p:cNvSpPr>
                <a:spLocks noChangeAspect="1" noChangeArrowhead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6570603" y="1435596"/>
                <a:ext cx="70446" cy="925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85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4" name="Maximize" descr="&lt;SmartSettings&gt;&lt;SmartResize anchorLeft=&quot;None&quot; anchorTop=&quot;Absolute&quot; anchorRight=&quot;Absolute&quot; anchorBottom=&quot;None&quot; /&gt;&lt;/SmartSettings&gt;">
                <a:extLst>
                  <a:ext uri="{FF2B5EF4-FFF2-40B4-BE49-F238E27FC236}">
                    <a16:creationId xmlns:a16="http://schemas.microsoft.com/office/drawing/2014/main" id="{0E01F9AD-6384-4C57-B4DE-9C69BBAAED52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6883862" y="1431617"/>
                <a:ext cx="68947" cy="8883"/>
              </a:xfrm>
              <a:custGeom>
                <a:avLst/>
                <a:gdLst>
                  <a:gd name="T0" fmla="*/ 0 w 282"/>
                  <a:gd name="T1" fmla="*/ 0 h 282"/>
                  <a:gd name="T2" fmla="*/ 0 w 282"/>
                  <a:gd name="T3" fmla="*/ 282 h 282"/>
                  <a:gd name="T4" fmla="*/ 282 w 282"/>
                  <a:gd name="T5" fmla="*/ 282 h 282"/>
                  <a:gd name="T6" fmla="*/ 282 w 282"/>
                  <a:gd name="T7" fmla="*/ 0 h 282"/>
                  <a:gd name="T8" fmla="*/ 0 w 282"/>
                  <a:gd name="T9" fmla="*/ 0 h 282"/>
                  <a:gd name="T10" fmla="*/ 28 w 282"/>
                  <a:gd name="T11" fmla="*/ 28 h 282"/>
                  <a:gd name="T12" fmla="*/ 254 w 282"/>
                  <a:gd name="T13" fmla="*/ 28 h 282"/>
                  <a:gd name="T14" fmla="*/ 254 w 282"/>
                  <a:gd name="T15" fmla="*/ 254 h 282"/>
                  <a:gd name="T16" fmla="*/ 28 w 282"/>
                  <a:gd name="T17" fmla="*/ 254 h 282"/>
                  <a:gd name="T18" fmla="*/ 28 w 282"/>
                  <a:gd name="T19" fmla="*/ 28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82" h="282">
                    <a:moveTo>
                      <a:pt x="0" y="0"/>
                    </a:moveTo>
                    <a:lnTo>
                      <a:pt x="0" y="282"/>
                    </a:lnTo>
                    <a:lnTo>
                      <a:pt x="282" y="282"/>
                    </a:lnTo>
                    <a:lnTo>
                      <a:pt x="282" y="0"/>
                    </a:lnTo>
                    <a:lnTo>
                      <a:pt x="0" y="0"/>
                    </a:lnTo>
                    <a:close/>
                    <a:moveTo>
                      <a:pt x="28" y="28"/>
                    </a:moveTo>
                    <a:lnTo>
                      <a:pt x="254" y="28"/>
                    </a:lnTo>
                    <a:lnTo>
                      <a:pt x="254" y="254"/>
                    </a:lnTo>
                    <a:lnTo>
                      <a:pt x="28" y="254"/>
                    </a:lnTo>
                    <a:lnTo>
                      <a:pt x="28" y="28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85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5" name="Close" descr="&lt;SmartSettings&gt;&lt;SmartResize anchorLeft=&quot;None&quot; anchorTop=&quot;Absolute&quot; anchorRight=&quot;Absolute&quot; anchorBottom=&quot;None&quot; /&gt;&lt;/SmartSettings&gt;">
                <a:extLst>
                  <a:ext uri="{FF2B5EF4-FFF2-40B4-BE49-F238E27FC236}">
                    <a16:creationId xmlns:a16="http://schemas.microsoft.com/office/drawing/2014/main" id="{8909B04E-1520-4178-B37F-EC07ACC6717D}"/>
                  </a:ext>
                </a:extLst>
              </p:cNvPr>
              <p:cNvSpPr>
                <a:spLocks noChangeAspect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7197121" y="1431433"/>
                <a:ext cx="70446" cy="9254"/>
              </a:xfrm>
              <a:custGeom>
                <a:avLst/>
                <a:gdLst>
                  <a:gd name="T0" fmla="*/ 3 w 47"/>
                  <a:gd name="T1" fmla="*/ 0 h 50"/>
                  <a:gd name="T2" fmla="*/ 0 w 47"/>
                  <a:gd name="T3" fmla="*/ 3 h 50"/>
                  <a:gd name="T4" fmla="*/ 20 w 47"/>
                  <a:gd name="T5" fmla="*/ 25 h 50"/>
                  <a:gd name="T6" fmla="*/ 0 w 47"/>
                  <a:gd name="T7" fmla="*/ 46 h 50"/>
                  <a:gd name="T8" fmla="*/ 3 w 47"/>
                  <a:gd name="T9" fmla="*/ 50 h 50"/>
                  <a:gd name="T10" fmla="*/ 23 w 47"/>
                  <a:gd name="T11" fmla="*/ 28 h 50"/>
                  <a:gd name="T12" fmla="*/ 44 w 47"/>
                  <a:gd name="T13" fmla="*/ 49 h 50"/>
                  <a:gd name="T14" fmla="*/ 47 w 47"/>
                  <a:gd name="T15" fmla="*/ 46 h 50"/>
                  <a:gd name="T16" fmla="*/ 27 w 47"/>
                  <a:gd name="T17" fmla="*/ 25 h 50"/>
                  <a:gd name="T18" fmla="*/ 47 w 47"/>
                  <a:gd name="T19" fmla="*/ 3 h 50"/>
                  <a:gd name="T20" fmla="*/ 44 w 47"/>
                  <a:gd name="T21" fmla="*/ 0 h 50"/>
                  <a:gd name="T22" fmla="*/ 24 w 47"/>
                  <a:gd name="T23" fmla="*/ 21 h 50"/>
                  <a:gd name="T24" fmla="*/ 3 w 47"/>
                  <a:gd name="T25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7" h="50">
                    <a:moveTo>
                      <a:pt x="3" y="0"/>
                    </a:moveTo>
                    <a:lnTo>
                      <a:pt x="0" y="3"/>
                    </a:lnTo>
                    <a:lnTo>
                      <a:pt x="20" y="25"/>
                    </a:lnTo>
                    <a:lnTo>
                      <a:pt x="0" y="46"/>
                    </a:lnTo>
                    <a:lnTo>
                      <a:pt x="3" y="50"/>
                    </a:lnTo>
                    <a:lnTo>
                      <a:pt x="23" y="28"/>
                    </a:lnTo>
                    <a:lnTo>
                      <a:pt x="44" y="49"/>
                    </a:lnTo>
                    <a:lnTo>
                      <a:pt x="47" y="46"/>
                    </a:lnTo>
                    <a:lnTo>
                      <a:pt x="27" y="25"/>
                    </a:lnTo>
                    <a:lnTo>
                      <a:pt x="47" y="3"/>
                    </a:lnTo>
                    <a:lnTo>
                      <a:pt x="44" y="0"/>
                    </a:lnTo>
                    <a:lnTo>
                      <a:pt x="24" y="21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85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61" name="Window Frame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09BAC544-82CB-4613-AF2C-9C9033A1392A}"/>
                </a:ext>
              </a:extLst>
            </p:cNvPr>
            <p:cNvSpPr/>
            <p:nvPr userDrawn="1">
              <p:custDataLst>
                <p:tags r:id="rId6"/>
              </p:custDataLst>
            </p:nvPr>
          </p:nvSpPr>
          <p:spPr>
            <a:xfrm>
              <a:off x="660249" y="1104551"/>
              <a:ext cx="6453531" cy="4963332"/>
            </a:xfrm>
            <a:prstGeom prst="rect">
              <a:avLst/>
            </a:prstGeom>
            <a:noFill/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54864" rtlCol="0" anchor="t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68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E938F296-3CBB-4AEF-BFAD-8D6B891847A7}"/>
              </a:ext>
            </a:extLst>
          </p:cNvPr>
          <p:cNvGrpSpPr/>
          <p:nvPr/>
        </p:nvGrpSpPr>
        <p:grpSpPr>
          <a:xfrm>
            <a:off x="172496" y="1034019"/>
            <a:ext cx="388720" cy="200055"/>
            <a:chOff x="4727047" y="5307508"/>
            <a:chExt cx="388720" cy="200055"/>
          </a:xfrm>
        </p:grpSpPr>
        <p:sp>
          <p:nvSpPr>
            <p:cNvPr id="67" name="타원 66">
              <a:extLst>
                <a:ext uri="{FF2B5EF4-FFF2-40B4-BE49-F238E27FC236}">
                  <a16:creationId xmlns:a16="http://schemas.microsoft.com/office/drawing/2014/main" id="{9CD74E47-13E3-4B6E-9061-F5831E4DE6D0}"/>
                </a:ext>
              </a:extLst>
            </p:cNvPr>
            <p:cNvSpPr/>
            <p:nvPr/>
          </p:nvSpPr>
          <p:spPr>
            <a:xfrm>
              <a:off x="4831407" y="5317535"/>
              <a:ext cx="180000" cy="18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50800">
                <a:srgbClr val="FF0000">
                  <a:alpha val="30000"/>
                </a:srgbClr>
              </a:glo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56616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13232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69848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426464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83080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139696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96312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852928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9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8" name="TextBox 27">
              <a:extLst>
                <a:ext uri="{FF2B5EF4-FFF2-40B4-BE49-F238E27FC236}">
                  <a16:creationId xmlns:a16="http://schemas.microsoft.com/office/drawing/2014/main" id="{382B27B6-00DC-45EC-AF1D-FB3E028F928C}"/>
                </a:ext>
              </a:extLst>
            </p:cNvPr>
            <p:cNvSpPr txBox="1"/>
            <p:nvPr/>
          </p:nvSpPr>
          <p:spPr>
            <a:xfrm>
              <a:off x="4727047" y="5307508"/>
              <a:ext cx="38872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6616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13232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69848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26464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83080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39696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96312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852928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endParaRPr lang="ko-KR" altLang="en-US" sz="7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9F7ADFB7-FFB8-42CC-B91C-FE4B30FC664E}"/>
              </a:ext>
            </a:extLst>
          </p:cNvPr>
          <p:cNvCxnSpPr/>
          <p:nvPr/>
        </p:nvCxnSpPr>
        <p:spPr>
          <a:xfrm flipH="1">
            <a:off x="107504" y="492497"/>
            <a:ext cx="678433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" name="Scrollbar" descr="&lt;SmartSettings&gt;&lt;SmartResize enabled=&quot;True&quot; minWidth=&quot;4.5&quot; minHeight=&quot;18&quot; /&gt;&lt;/SmartSettings&gt;">
            <a:extLst>
              <a:ext uri="{FF2B5EF4-FFF2-40B4-BE49-F238E27FC236}">
                <a16:creationId xmlns:a16="http://schemas.microsoft.com/office/drawing/2014/main" id="{5865A340-0382-41FE-815A-BE61AB163ACE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6791075" y="512770"/>
            <a:ext cx="85725" cy="5004000"/>
            <a:chOff x="5794310" y="1229599"/>
            <a:chExt cx="85725" cy="2743200"/>
          </a:xfrm>
        </p:grpSpPr>
        <p:sp>
          <p:nvSpPr>
            <p:cNvPr id="71" name="Track">
              <a:extLst>
                <a:ext uri="{FF2B5EF4-FFF2-40B4-BE49-F238E27FC236}">
                  <a16:creationId xmlns:a16="http://schemas.microsoft.com/office/drawing/2014/main" id="{27F16E21-35AB-426E-B230-36413C902A8D}"/>
                </a:ext>
              </a:extLst>
            </p:cNvPr>
            <p:cNvSpPr/>
            <p:nvPr/>
          </p:nvSpPr>
          <p:spPr>
            <a:xfrm>
              <a:off x="5794310" y="1229599"/>
              <a:ext cx="85725" cy="27432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2" name="Thumb" descr="&lt;SmartSettings&gt;&lt;SmartResize anchorLeft=&quot;Absolute&quot; anchorTop=&quot;Absolute&quot; anchorRight=&quot;Absolute&quot; anchorBottom=&quot;Relative&quot; /&gt;&lt;/SmartSettings&gt;">
              <a:extLst>
                <a:ext uri="{FF2B5EF4-FFF2-40B4-BE49-F238E27FC236}">
                  <a16:creationId xmlns:a16="http://schemas.microsoft.com/office/drawing/2014/main" id="{1EE7E916-676D-4FDA-8BEE-85757E940E57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5794310" y="1276592"/>
              <a:ext cx="85725" cy="1668382"/>
            </a:xfrm>
            <a:prstGeom prst="rect">
              <a:avLst/>
            </a:prstGeom>
            <a:solidFill>
              <a:srgbClr val="C2C2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3" name="Arrow Up" descr="&lt;SmartSettings&gt;&lt;SmartResize anchorLeft=&quot;None&quot; anchorTop=&quot;Absolut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10C97E80-C5E5-4232-A5A1-52A138E5973C}"/>
                </a:ext>
              </a:extLst>
            </p:cNvPr>
            <p:cNvSpPr>
              <a:spLocks noChangeAspect="1"/>
            </p:cNvSpPr>
            <p:nvPr>
              <p:custDataLst>
                <p:tags r:id="rId4"/>
              </p:custDataLst>
            </p:nvPr>
          </p:nvSpPr>
          <p:spPr bwMode="auto">
            <a:xfrm>
              <a:off x="5808597" y="1244393"/>
              <a:ext cx="57150" cy="17405"/>
            </a:xfrm>
            <a:custGeom>
              <a:avLst/>
              <a:gdLst>
                <a:gd name="T0" fmla="*/ 205 w 205"/>
                <a:gd name="T1" fmla="*/ 94 h 116"/>
                <a:gd name="T2" fmla="*/ 103 w 205"/>
                <a:gd name="T3" fmla="*/ 0 h 116"/>
                <a:gd name="T4" fmla="*/ 0 w 205"/>
                <a:gd name="T5" fmla="*/ 94 h 116"/>
                <a:gd name="T6" fmla="*/ 20 w 205"/>
                <a:gd name="T7" fmla="*/ 116 h 116"/>
                <a:gd name="T8" fmla="*/ 103 w 205"/>
                <a:gd name="T9" fmla="*/ 39 h 116"/>
                <a:gd name="T10" fmla="*/ 187 w 205"/>
                <a:gd name="T11" fmla="*/ 116 h 116"/>
                <a:gd name="T12" fmla="*/ 205 w 205"/>
                <a:gd name="T13" fmla="*/ 94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5" h="116">
                  <a:moveTo>
                    <a:pt x="205" y="94"/>
                  </a:moveTo>
                  <a:cubicBezTo>
                    <a:pt x="171" y="63"/>
                    <a:pt x="137" y="31"/>
                    <a:pt x="103" y="0"/>
                  </a:cubicBezTo>
                  <a:cubicBezTo>
                    <a:pt x="69" y="31"/>
                    <a:pt x="35" y="63"/>
                    <a:pt x="0" y="94"/>
                  </a:cubicBezTo>
                  <a:lnTo>
                    <a:pt x="20" y="116"/>
                  </a:lnTo>
                  <a:lnTo>
                    <a:pt x="103" y="39"/>
                  </a:lnTo>
                  <a:lnTo>
                    <a:pt x="187" y="116"/>
                  </a:lnTo>
                  <a:lnTo>
                    <a:pt x="205" y="94"/>
                  </a:lnTo>
                  <a:close/>
                </a:path>
              </a:pathLst>
            </a:custGeom>
            <a:solidFill>
              <a:srgbClr val="99999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4" name="Arrow Down" descr="&lt;SmartSettings&gt;&lt;SmartResize anchorLeft=&quot;None&quot; anchorTop=&quot;None&quot; anchorRight=&quot;None&quot; anchorBottom=&quot;Absolute&quot; /&gt;&lt;/SmartSettings&gt;">
              <a:extLst>
                <a:ext uri="{FF2B5EF4-FFF2-40B4-BE49-F238E27FC236}">
                  <a16:creationId xmlns:a16="http://schemas.microsoft.com/office/drawing/2014/main" id="{8E8DC1AD-272A-40A2-8685-30B55776079C}"/>
                </a:ext>
              </a:extLst>
            </p:cNvPr>
            <p:cNvSpPr>
              <a:spLocks noChangeAspect="1"/>
            </p:cNvSpPr>
            <p:nvPr>
              <p:custDataLst>
                <p:tags r:id="rId5"/>
              </p:custDataLst>
            </p:nvPr>
          </p:nvSpPr>
          <p:spPr bwMode="auto">
            <a:xfrm>
              <a:off x="5808597" y="3940598"/>
              <a:ext cx="57150" cy="17405"/>
            </a:xfrm>
            <a:custGeom>
              <a:avLst/>
              <a:gdLst>
                <a:gd name="T0" fmla="*/ 0 w 205"/>
                <a:gd name="T1" fmla="*/ 22 h 116"/>
                <a:gd name="T2" fmla="*/ 102 w 205"/>
                <a:gd name="T3" fmla="*/ 116 h 116"/>
                <a:gd name="T4" fmla="*/ 205 w 205"/>
                <a:gd name="T5" fmla="*/ 22 h 116"/>
                <a:gd name="T6" fmla="*/ 185 w 205"/>
                <a:gd name="T7" fmla="*/ 0 h 116"/>
                <a:gd name="T8" fmla="*/ 102 w 205"/>
                <a:gd name="T9" fmla="*/ 77 h 116"/>
                <a:gd name="T10" fmla="*/ 18 w 205"/>
                <a:gd name="T11" fmla="*/ 0 h 116"/>
                <a:gd name="T12" fmla="*/ 0 w 205"/>
                <a:gd name="T13" fmla="*/ 22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5" h="116">
                  <a:moveTo>
                    <a:pt x="0" y="22"/>
                  </a:moveTo>
                  <a:cubicBezTo>
                    <a:pt x="34" y="53"/>
                    <a:pt x="68" y="85"/>
                    <a:pt x="102" y="116"/>
                  </a:cubicBezTo>
                  <a:cubicBezTo>
                    <a:pt x="136" y="85"/>
                    <a:pt x="170" y="53"/>
                    <a:pt x="205" y="22"/>
                  </a:cubicBezTo>
                  <a:lnTo>
                    <a:pt x="185" y="0"/>
                  </a:lnTo>
                  <a:lnTo>
                    <a:pt x="102" y="77"/>
                  </a:lnTo>
                  <a:lnTo>
                    <a:pt x="18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99999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E72C7ECF-8CF7-44B1-8166-B55C9AFC91B8}"/>
              </a:ext>
            </a:extLst>
          </p:cNvPr>
          <p:cNvGrpSpPr/>
          <p:nvPr/>
        </p:nvGrpSpPr>
        <p:grpSpPr>
          <a:xfrm>
            <a:off x="2411760" y="646711"/>
            <a:ext cx="388720" cy="200055"/>
            <a:chOff x="4727047" y="5307508"/>
            <a:chExt cx="388720" cy="200055"/>
          </a:xfrm>
        </p:grpSpPr>
        <p:sp>
          <p:nvSpPr>
            <p:cNvPr id="76" name="타원 75">
              <a:extLst>
                <a:ext uri="{FF2B5EF4-FFF2-40B4-BE49-F238E27FC236}">
                  <a16:creationId xmlns:a16="http://schemas.microsoft.com/office/drawing/2014/main" id="{FFE9A7B6-65D4-4244-A87B-7E569FE8A425}"/>
                </a:ext>
              </a:extLst>
            </p:cNvPr>
            <p:cNvSpPr/>
            <p:nvPr/>
          </p:nvSpPr>
          <p:spPr>
            <a:xfrm>
              <a:off x="4831407" y="5317535"/>
              <a:ext cx="180000" cy="18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50800">
                <a:srgbClr val="FF0000">
                  <a:alpha val="30000"/>
                </a:srgbClr>
              </a:glo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56616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13232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69848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426464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83080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139696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96312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852928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9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7" name="TextBox 27">
              <a:extLst>
                <a:ext uri="{FF2B5EF4-FFF2-40B4-BE49-F238E27FC236}">
                  <a16:creationId xmlns:a16="http://schemas.microsoft.com/office/drawing/2014/main" id="{A279F73A-952D-4D91-80D6-A9A746857074}"/>
                </a:ext>
              </a:extLst>
            </p:cNvPr>
            <p:cNvSpPr txBox="1"/>
            <p:nvPr/>
          </p:nvSpPr>
          <p:spPr>
            <a:xfrm>
              <a:off x="4727047" y="5307508"/>
              <a:ext cx="38872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6616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13232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69848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26464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83080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39696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96312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852928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endParaRPr lang="ko-KR" altLang="en-US" sz="7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C002215C-48AC-48BF-A5CE-762ECA316344}"/>
              </a:ext>
            </a:extLst>
          </p:cNvPr>
          <p:cNvGrpSpPr/>
          <p:nvPr/>
        </p:nvGrpSpPr>
        <p:grpSpPr>
          <a:xfrm>
            <a:off x="1403648" y="1189179"/>
            <a:ext cx="388720" cy="200055"/>
            <a:chOff x="4727047" y="5307508"/>
            <a:chExt cx="388720" cy="200055"/>
          </a:xfrm>
        </p:grpSpPr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99167820-1D25-468E-82A0-9E343CFBF6F3}"/>
                </a:ext>
              </a:extLst>
            </p:cNvPr>
            <p:cNvSpPr/>
            <p:nvPr/>
          </p:nvSpPr>
          <p:spPr>
            <a:xfrm>
              <a:off x="4831407" y="5317535"/>
              <a:ext cx="180000" cy="18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50800">
                <a:srgbClr val="FF0000">
                  <a:alpha val="30000"/>
                </a:srgbClr>
              </a:glo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56616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13232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69848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426464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83080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139696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96312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852928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9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0" name="TextBox 27">
              <a:extLst>
                <a:ext uri="{FF2B5EF4-FFF2-40B4-BE49-F238E27FC236}">
                  <a16:creationId xmlns:a16="http://schemas.microsoft.com/office/drawing/2014/main" id="{D62C52A9-0388-4CAD-9D81-A684F5C092F6}"/>
                </a:ext>
              </a:extLst>
            </p:cNvPr>
            <p:cNvSpPr txBox="1"/>
            <p:nvPr/>
          </p:nvSpPr>
          <p:spPr>
            <a:xfrm>
              <a:off x="4727047" y="5307508"/>
              <a:ext cx="38872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6616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13232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69848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26464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83080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39696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96312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852928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endParaRPr lang="ko-KR" altLang="en-US" sz="7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65A42663-E527-4998-B98C-C9C39CE7510E}"/>
              </a:ext>
            </a:extLst>
          </p:cNvPr>
          <p:cNvGrpSpPr/>
          <p:nvPr/>
        </p:nvGrpSpPr>
        <p:grpSpPr>
          <a:xfrm>
            <a:off x="1403648" y="1512475"/>
            <a:ext cx="388720" cy="200055"/>
            <a:chOff x="4727047" y="5307508"/>
            <a:chExt cx="388720" cy="200055"/>
          </a:xfrm>
        </p:grpSpPr>
        <p:sp>
          <p:nvSpPr>
            <p:cNvPr id="82" name="타원 81">
              <a:extLst>
                <a:ext uri="{FF2B5EF4-FFF2-40B4-BE49-F238E27FC236}">
                  <a16:creationId xmlns:a16="http://schemas.microsoft.com/office/drawing/2014/main" id="{BA6D0ECE-AFF8-4D31-A9A1-EFCD71CD50B1}"/>
                </a:ext>
              </a:extLst>
            </p:cNvPr>
            <p:cNvSpPr/>
            <p:nvPr/>
          </p:nvSpPr>
          <p:spPr>
            <a:xfrm>
              <a:off x="4831407" y="5317535"/>
              <a:ext cx="180000" cy="18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50800">
                <a:srgbClr val="FF0000">
                  <a:alpha val="30000"/>
                </a:srgbClr>
              </a:glo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56616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13232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69848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426464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83080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139696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96312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852928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9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3" name="TextBox 27">
              <a:extLst>
                <a:ext uri="{FF2B5EF4-FFF2-40B4-BE49-F238E27FC236}">
                  <a16:creationId xmlns:a16="http://schemas.microsoft.com/office/drawing/2014/main" id="{1B745909-4DFC-4FAB-B1EB-C83E5540A97C}"/>
                </a:ext>
              </a:extLst>
            </p:cNvPr>
            <p:cNvSpPr txBox="1"/>
            <p:nvPr/>
          </p:nvSpPr>
          <p:spPr>
            <a:xfrm>
              <a:off x="4727047" y="5307508"/>
              <a:ext cx="38872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6616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13232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69848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26464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83080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39696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96312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852928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endParaRPr lang="ko-KR" altLang="en-US" sz="7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69CF5B0C-DDDA-42FD-9794-EAD4E6F635E8}"/>
              </a:ext>
            </a:extLst>
          </p:cNvPr>
          <p:cNvGrpSpPr/>
          <p:nvPr/>
        </p:nvGrpSpPr>
        <p:grpSpPr>
          <a:xfrm>
            <a:off x="1403648" y="2193128"/>
            <a:ext cx="388720" cy="200055"/>
            <a:chOff x="4727047" y="5307508"/>
            <a:chExt cx="388720" cy="200055"/>
          </a:xfrm>
        </p:grpSpPr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7C09F33C-0CAA-4608-8E46-2B8586D264A3}"/>
                </a:ext>
              </a:extLst>
            </p:cNvPr>
            <p:cNvSpPr/>
            <p:nvPr/>
          </p:nvSpPr>
          <p:spPr>
            <a:xfrm>
              <a:off x="4831407" y="5317535"/>
              <a:ext cx="180000" cy="18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50800">
                <a:srgbClr val="FF0000">
                  <a:alpha val="30000"/>
                </a:srgbClr>
              </a:glo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56616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13232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69848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426464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83080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139696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96312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852928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9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6" name="TextBox 27">
              <a:extLst>
                <a:ext uri="{FF2B5EF4-FFF2-40B4-BE49-F238E27FC236}">
                  <a16:creationId xmlns:a16="http://schemas.microsoft.com/office/drawing/2014/main" id="{C5DD1A93-8C0C-4203-8F86-A0A69CAB375F}"/>
                </a:ext>
              </a:extLst>
            </p:cNvPr>
            <p:cNvSpPr txBox="1"/>
            <p:nvPr/>
          </p:nvSpPr>
          <p:spPr>
            <a:xfrm>
              <a:off x="4727047" y="5307508"/>
              <a:ext cx="38872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6616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13232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69848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26464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83080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39696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96312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852928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</a:t>
              </a:r>
              <a:endParaRPr lang="ko-KR" altLang="en-US" sz="7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8AE5372E-37E4-4EFE-9E9A-3D9F44321368}"/>
              </a:ext>
            </a:extLst>
          </p:cNvPr>
          <p:cNvGrpSpPr/>
          <p:nvPr/>
        </p:nvGrpSpPr>
        <p:grpSpPr>
          <a:xfrm>
            <a:off x="3779912" y="5452006"/>
            <a:ext cx="388720" cy="200055"/>
            <a:chOff x="4727047" y="5307508"/>
            <a:chExt cx="388720" cy="200055"/>
          </a:xfrm>
        </p:grpSpPr>
        <p:sp>
          <p:nvSpPr>
            <p:cNvPr id="88" name="타원 87">
              <a:extLst>
                <a:ext uri="{FF2B5EF4-FFF2-40B4-BE49-F238E27FC236}">
                  <a16:creationId xmlns:a16="http://schemas.microsoft.com/office/drawing/2014/main" id="{8B076208-1E0D-4BBF-A65C-9C03D4538C23}"/>
                </a:ext>
              </a:extLst>
            </p:cNvPr>
            <p:cNvSpPr/>
            <p:nvPr/>
          </p:nvSpPr>
          <p:spPr>
            <a:xfrm>
              <a:off x="4831407" y="5317535"/>
              <a:ext cx="180000" cy="18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50800">
                <a:srgbClr val="FF0000">
                  <a:alpha val="30000"/>
                </a:srgbClr>
              </a:glo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56616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13232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69848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426464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83080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139696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96312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852928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9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9" name="TextBox 27">
              <a:extLst>
                <a:ext uri="{FF2B5EF4-FFF2-40B4-BE49-F238E27FC236}">
                  <a16:creationId xmlns:a16="http://schemas.microsoft.com/office/drawing/2014/main" id="{1B92943C-60F3-428E-B2EE-6FDBC5E55BF6}"/>
                </a:ext>
              </a:extLst>
            </p:cNvPr>
            <p:cNvSpPr txBox="1"/>
            <p:nvPr/>
          </p:nvSpPr>
          <p:spPr>
            <a:xfrm>
              <a:off x="4727047" y="5307508"/>
              <a:ext cx="38872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6616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13232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69848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26464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83080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39696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96312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852928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7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3669275D-8D8B-4A36-A5C8-1D8DF856B5AB}"/>
              </a:ext>
            </a:extLst>
          </p:cNvPr>
          <p:cNvSpPr txBox="1"/>
          <p:nvPr/>
        </p:nvSpPr>
        <p:spPr>
          <a:xfrm>
            <a:off x="264479" y="4548857"/>
            <a:ext cx="15265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스토리보드</a:t>
            </a:r>
            <a:endParaRPr lang="en-US" altLang="ko-KR" sz="14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7580C37D-C5BC-49C0-AC4F-EB7156D9082A}"/>
              </a:ext>
            </a:extLst>
          </p:cNvPr>
          <p:cNvSpPr/>
          <p:nvPr/>
        </p:nvSpPr>
        <p:spPr>
          <a:xfrm>
            <a:off x="1605666" y="4563218"/>
            <a:ext cx="6834472" cy="255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 </a:t>
            </a:r>
            <a:r>
              <a:rPr lang="en-US" altLang="ko-KR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PC </a:t>
            </a:r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웹 기획</a:t>
            </a:r>
            <a:r>
              <a:rPr lang="en-US" altLang="ko-KR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|   </a:t>
            </a:r>
            <a:r>
              <a:rPr lang="ko-KR" altLang="en-US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스토리보드는 </a:t>
            </a:r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UI(User Interface)</a:t>
            </a:r>
            <a:r>
              <a:rPr lang="ko-KR" altLang="en-US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라고 불리우는 서비스의 화면을 설계하고 실제 작업자에게 작업할 사항을 전달하는 문서입니다</a:t>
            </a:r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5F867001-A216-422D-87D4-75179B1D7F37}"/>
              </a:ext>
            </a:extLst>
          </p:cNvPr>
          <p:cNvSpPr/>
          <p:nvPr/>
        </p:nvSpPr>
        <p:spPr>
          <a:xfrm>
            <a:off x="257370" y="4867392"/>
            <a:ext cx="8563102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PC</a:t>
            </a:r>
            <a:r>
              <a:rPr lang="ko-KR" altLang="en-US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웹 또한 마찬가지로 와이어 프레임 형태로 기획서를 작성합니다</a:t>
            </a:r>
            <a:r>
              <a:rPr lang="en-US" altLang="ko-KR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기획서 토대로 </a:t>
            </a:r>
            <a:r>
              <a:rPr lang="en-US" altLang="ko-KR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UX(User Experience)</a:t>
            </a:r>
            <a:r>
              <a:rPr lang="ko-KR" altLang="en-US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에 맞춰 디자인을 하며</a:t>
            </a:r>
            <a:r>
              <a:rPr lang="en-US" altLang="ko-KR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기획서와 구성요소는 같으나 </a:t>
            </a:r>
            <a:r>
              <a:rPr lang="en-US" altLang="ko-KR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UI</a:t>
            </a:r>
            <a:r>
              <a:rPr lang="ko-KR" altLang="en-US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 변경되는 경우 개발에 이해를 돕기 위해 디자인 된 화면을 토대로 기획서를 다시 작성할 수 있습니다</a:t>
            </a:r>
            <a:r>
              <a:rPr lang="en-US" altLang="ko-KR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</p:txBody>
      </p:sp>
      <p:pic>
        <p:nvPicPr>
          <p:cNvPr id="94" name="그래픽 93">
            <a:extLst>
              <a:ext uri="{FF2B5EF4-FFF2-40B4-BE49-F238E27FC236}">
                <a16:creationId xmlns:a16="http://schemas.microsoft.com/office/drawing/2014/main" id="{50D35960-2C06-45AA-A6F7-1BBCE5ECB65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291670" y="4625863"/>
            <a:ext cx="226966" cy="172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3580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NCVjCPV1IzMKXKl9/fgBjVQoFrENqHg4RSYVydCDrE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1La62eH0klTn4mRbYpIS0mKjIcnNm0nnu8iBNsuark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NCVjCPV1IzMKXKl9/fgBjVQoFrENqHg4RSYVydCDrE=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eTlcZC8dv6qUg8uwGhFVuk2dyGOK09EyYw7znF4XrDo=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8QuzPSC+JOF1W/FyYc13l7A/YWm0CToMdNxJKtYnkf8=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htqbMyMSA0D2yMasrw9mgni6b3DpYxxK9j33Y/9Sb0Q=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3Koezp0l3A49TMn/FcGOwjA2sdgY4HBEe4T/h6Lf3o=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heme/theme1.xml><?xml version="1.0" encoding="utf-8"?>
<a:theme xmlns:a="http://schemas.openxmlformats.org/drawingml/2006/main" name="Office 테마">
  <a:themeElements>
    <a:clrScheme name="수평선">
      <a:dk1>
        <a:srgbClr val="000000"/>
      </a:dk1>
      <a:lt1>
        <a:srgbClr val="FFFFFF"/>
      </a:lt1>
      <a:dk2>
        <a:srgbClr val="1F2123"/>
      </a:dk2>
      <a:lt2>
        <a:srgbClr val="DC9E1F"/>
      </a:lt2>
      <a:accent1>
        <a:srgbClr val="7E97AD"/>
      </a:accent1>
      <a:accent2>
        <a:srgbClr val="CC8E60"/>
      </a:accent2>
      <a:accent3>
        <a:srgbClr val="7A6A60"/>
      </a:accent3>
      <a:accent4>
        <a:srgbClr val="B4936D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78D7"/>
        </a:solidFill>
        <a:ln w="12700">
          <a:solidFill>
            <a:srgbClr val="0078D7"/>
          </a:solidFill>
        </a:ln>
      </a:spPr>
      <a:bodyPr wrap="none" rtlCol="0" anchor="ctr"/>
      <a:lstStyle>
        <a:defPPr>
          <a:defRPr sz="850" dirty="0">
            <a:solidFill>
              <a:srgbClr val="000000"/>
            </a:solidFill>
            <a:latin typeface="Segoe UI" panose="020B0502040204020203" pitchFamily="34" charset="0"/>
            <a:cs typeface="Segoe UI" panose="020B0502040204020203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17137</TotalTime>
  <Words>935</Words>
  <Application>Microsoft Office PowerPoint</Application>
  <PresentationFormat>화면 슬라이드 쇼(16:10)</PresentationFormat>
  <Paragraphs>169</Paragraphs>
  <Slides>6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6</vt:i4>
      </vt:variant>
    </vt:vector>
  </HeadingPairs>
  <TitlesOfParts>
    <vt:vector size="13" baseType="lpstr">
      <vt:lpstr>나눔고딕</vt:lpstr>
      <vt:lpstr>맑은 고딕</vt:lpstr>
      <vt:lpstr>Arial</vt:lpstr>
      <vt:lpstr>Calibri</vt:lpstr>
      <vt:lpstr>Segoe UI</vt:lpstr>
      <vt:lpstr>Office 테마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Administrator</cp:lastModifiedBy>
  <cp:revision>1397</cp:revision>
  <cp:lastPrinted>2020-01-08T09:16:57Z</cp:lastPrinted>
  <dcterms:created xsi:type="dcterms:W3CDTF">2018-01-08T06:52:41Z</dcterms:created>
  <dcterms:modified xsi:type="dcterms:W3CDTF">2026-08-06T08:12:27Z</dcterms:modified>
</cp:coreProperties>
</file>